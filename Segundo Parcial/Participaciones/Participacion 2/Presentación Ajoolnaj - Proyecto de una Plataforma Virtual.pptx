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00503000000020004" pitchFamily="2" charset="0"/>
      <p:regular r:id="rId14"/>
      <p:bold r:id="rId15"/>
      <p:italic r:id="rId16"/>
      <p:boldItalic r:id="rId17"/>
    </p:embeddedFont>
    <p:embeddedFont>
      <p:font typeface="Inter SemiBold" panose="02000503000000020004" pitchFamily="2" charset="0"/>
      <p:regular r:id="rId18"/>
      <p:bold r:id="rId19"/>
      <p:italic r:id="rId20"/>
      <p:boldItalic r:id="rId21"/>
    </p:embeddedFont>
    <p:embeddedFont>
      <p:font typeface="Play" pitchFamily="2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CD691B-E142-493F-B6EB-A31A974664A2}">
  <a:tblStyle styleId="{18CD691B-E142-493F-B6EB-A31A974664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1"/>
  </p:normalViewPr>
  <p:slideViewPr>
    <p:cSldViewPr snapToGrid="0">
      <p:cViewPr>
        <p:scale>
          <a:sx n="96" d="100"/>
          <a:sy n="96" d="100"/>
        </p:scale>
        <p:origin x="1352" y="5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4a7876d6e_5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f4a7876d6e_5_1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Abrimos</a:t>
            </a:r>
            <a:r>
              <a:rPr lang="en-US" dirty="0"/>
              <a:t> </a:t>
            </a:r>
            <a:r>
              <a:rPr lang="en-US" dirty="0" err="1"/>
              <a:t>explicando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Ajoolnaj</a:t>
            </a:r>
            <a:r>
              <a:rPr lang="en-US" dirty="0"/>
              <a:t> es un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realista</a:t>
            </a:r>
            <a:r>
              <a:rPr lang="en-US" dirty="0"/>
              <a:t> para </a:t>
            </a:r>
            <a:r>
              <a:rPr lang="en-US" dirty="0" err="1"/>
              <a:t>apoyar</a:t>
            </a:r>
            <a:r>
              <a:rPr lang="en-US" dirty="0"/>
              <a:t> la </a:t>
            </a:r>
            <a:r>
              <a:rPr lang="en-US" dirty="0" err="1"/>
              <a:t>operación</a:t>
            </a:r>
            <a:r>
              <a:rPr lang="en-US" dirty="0"/>
              <a:t> de un </a:t>
            </a:r>
            <a:r>
              <a:rPr lang="en-US" dirty="0" err="1"/>
              <a:t>albergue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La </a:t>
            </a:r>
            <a:r>
              <a:rPr lang="en-US" dirty="0" err="1"/>
              <a:t>exposición</a:t>
            </a:r>
            <a:r>
              <a:rPr lang="en-US" dirty="0"/>
              <a:t> no se centra solo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el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funcione</a:t>
            </a:r>
            <a:r>
              <a:rPr lang="en-US" dirty="0"/>
              <a:t>; se centra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garantizamos</a:t>
            </a:r>
            <a:r>
              <a:rPr lang="en-US" dirty="0"/>
              <a:t> </a:t>
            </a:r>
            <a:r>
              <a:rPr lang="en-US" dirty="0" err="1"/>
              <a:t>calidad</a:t>
            </a:r>
            <a:r>
              <a:rPr lang="en-US" dirty="0"/>
              <a:t>, </a:t>
            </a:r>
            <a:r>
              <a:rPr lang="en-US" dirty="0" err="1"/>
              <a:t>mantenibilidad</a:t>
            </a:r>
            <a:r>
              <a:rPr lang="en-US" dirty="0"/>
              <a:t> y </a:t>
            </a:r>
            <a:r>
              <a:rPr lang="en-US" dirty="0" err="1"/>
              <a:t>escalabilidad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el </a:t>
            </a:r>
            <a:r>
              <a:rPr lang="en-US" dirty="0" err="1"/>
              <a:t>código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84" name="Google Shape;84;g3f4a7876d6e_5_1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4a7876d6e_5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3f4a7876d6e_5_2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Cerramos</a:t>
            </a:r>
            <a:r>
              <a:rPr lang="en-US" dirty="0"/>
              <a:t> </a:t>
            </a:r>
            <a:r>
              <a:rPr lang="en-US" dirty="0" err="1"/>
              <a:t>recordando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el </a:t>
            </a:r>
            <a:r>
              <a:rPr lang="en-US" dirty="0" err="1"/>
              <a:t>objetivo</a:t>
            </a:r>
            <a:r>
              <a:rPr lang="en-US" dirty="0"/>
              <a:t> de </a:t>
            </a:r>
            <a:r>
              <a:rPr lang="en-US" dirty="0" err="1"/>
              <a:t>calidad</a:t>
            </a:r>
            <a:r>
              <a:rPr lang="en-US" dirty="0"/>
              <a:t> es </a:t>
            </a:r>
            <a:r>
              <a:rPr lang="en-US" dirty="0" err="1"/>
              <a:t>que</a:t>
            </a:r>
            <a:r>
              <a:rPr lang="en-US" dirty="0"/>
              <a:t> el </a:t>
            </a:r>
            <a:r>
              <a:rPr lang="en-US" dirty="0" err="1"/>
              <a:t>sistema</a:t>
            </a:r>
            <a:r>
              <a:rPr lang="en-US" dirty="0"/>
              <a:t> no solo </a:t>
            </a:r>
            <a:r>
              <a:rPr lang="en-US" dirty="0" err="1"/>
              <a:t>funcione</a:t>
            </a:r>
            <a:r>
              <a:rPr lang="en-US" dirty="0"/>
              <a:t> hoy, </a:t>
            </a:r>
            <a:r>
              <a:rPr lang="en-US" dirty="0" err="1"/>
              <a:t>sino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pueda</a:t>
            </a:r>
            <a:r>
              <a:rPr lang="en-US" dirty="0"/>
              <a:t> </a:t>
            </a:r>
            <a:r>
              <a:rPr lang="en-US" dirty="0" err="1"/>
              <a:t>mantenerse</a:t>
            </a:r>
            <a:r>
              <a:rPr lang="en-US" dirty="0"/>
              <a:t> </a:t>
            </a:r>
            <a:r>
              <a:rPr lang="en-US" dirty="0" err="1"/>
              <a:t>mañana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Después</a:t>
            </a:r>
            <a:r>
              <a:rPr lang="en-US" dirty="0"/>
              <a:t> de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diapositiva</a:t>
            </a:r>
            <a:r>
              <a:rPr lang="en-US" dirty="0"/>
              <a:t> </a:t>
            </a:r>
            <a:r>
              <a:rPr lang="en-US" dirty="0" err="1"/>
              <a:t>abrimos</a:t>
            </a:r>
            <a:r>
              <a:rPr lang="en-US" dirty="0"/>
              <a:t> </a:t>
            </a:r>
            <a:r>
              <a:rPr lang="en-US" dirty="0" err="1"/>
              <a:t>preguntas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30" name="Google Shape;330;g3f4a7876d6e_5_2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0" y="0"/>
            <a:ext cx="6355200" cy="6858000"/>
          </a:xfrm>
          <a:prstGeom prst="rect">
            <a:avLst/>
          </a:prstGeom>
          <a:solidFill>
            <a:srgbClr val="0F2238"/>
          </a:solidFill>
          <a:ln w="12700" cap="flat" cmpd="sng">
            <a:solidFill>
              <a:srgbClr val="0F22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713232" y="713232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PROYECTO </a:t>
            </a:r>
            <a:r>
              <a:rPr lang="en-US" sz="850" b="1">
                <a:solidFill>
                  <a:srgbClr val="E76F51"/>
                </a:solidFill>
              </a:rPr>
              <a:t>DE UNA PLATAFORMA VIRTUAL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685800" y="1234440"/>
            <a:ext cx="5120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lay"/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Ajoolnaj</a:t>
            </a:r>
            <a:endParaRPr sz="4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713232" y="2011680"/>
            <a:ext cx="4983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7B29D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7B29D"/>
                </a:solidFill>
                <a:latin typeface="Arial"/>
                <a:ea typeface="Arial"/>
                <a:cs typeface="Arial"/>
                <a:sym typeface="Arial"/>
              </a:rPr>
              <a:t>Sistema de Gestión Institucional para un Albergue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713232" y="2880360"/>
            <a:ext cx="5120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Aplicación de Clean Code, principios SOLID y Definition of Done en un sistema modular con Laravel.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713232" y="3977640"/>
            <a:ext cx="3337500" cy="310800"/>
          </a:xfrm>
          <a:prstGeom prst="roundRect">
            <a:avLst>
              <a:gd name="adj" fmla="val 23529"/>
            </a:avLst>
          </a:prstGeom>
          <a:solidFill>
            <a:srgbClr val="253E5D"/>
          </a:solidFill>
          <a:ln w="12700" cap="flat" cmpd="sng">
            <a:solidFill>
              <a:srgbClr val="253E5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822960" y="4046220"/>
            <a:ext cx="31182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Laravel · PostgreSQL · </a:t>
            </a:r>
            <a:r>
              <a:rPr lang="en-US" sz="850" b="1">
                <a:solidFill>
                  <a:srgbClr val="FFFFFF"/>
                </a:solidFill>
              </a:rPr>
              <a:t>CSS</a:t>
            </a: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· RBAC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713225" y="5090575"/>
            <a:ext cx="4572000" cy="11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Integrantes del equip</a:t>
            </a:r>
            <a:r>
              <a:rPr lang="en-US" sz="1100">
                <a:solidFill>
                  <a:srgbClr val="DCE6F2"/>
                </a:solidFill>
              </a:rPr>
              <a:t>o</a:t>
            </a:r>
            <a:r>
              <a:rPr lang="en-US" sz="1100" b="0" i="0" u="none" strike="noStrike" cap="non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 · Julio 2026</a:t>
            </a:r>
            <a:br>
              <a:rPr lang="en-US" sz="1100" b="0" i="0" u="none" strike="noStrike" cap="non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>
              <a:solidFill>
                <a:srgbClr val="DCE6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CE6F2"/>
                </a:solidFill>
              </a:rPr>
              <a:t>Manuel David Castro Blanco</a:t>
            </a:r>
            <a:endParaRPr sz="1100">
              <a:solidFill>
                <a:srgbClr val="DCE6F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CE6F2"/>
                </a:solidFill>
              </a:rPr>
              <a:t>Pablo Leonel Salomon Campos</a:t>
            </a:r>
            <a:endParaRPr sz="1100">
              <a:solidFill>
                <a:srgbClr val="DCE6F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CE6F2"/>
                </a:solidFill>
              </a:rPr>
              <a:t>Gerardo Alexander Díaz León</a:t>
            </a:r>
            <a:endParaRPr sz="1100">
              <a:solidFill>
                <a:srgbClr val="DCE6F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CE6F2"/>
                </a:solidFill>
              </a:rPr>
              <a:t>Bryant Maximiliano Dzul Perez</a:t>
            </a:r>
            <a:endParaRPr sz="1350">
              <a:solidFill>
                <a:srgbClr val="F4F4F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>
              <a:solidFill>
                <a:srgbClr val="DCE6F2"/>
              </a:solidFill>
            </a:endParaRPr>
          </a:p>
        </p:txBody>
      </p:sp>
      <p:pic>
        <p:nvPicPr>
          <p:cNvPr id="94" name="Google Shape;94;p14" title="Captura de pantalla 2026-07-10 190421.png"/>
          <p:cNvPicPr preferRelativeResize="0"/>
          <p:nvPr/>
        </p:nvPicPr>
        <p:blipFill rotWithShape="1">
          <a:blip r:embed="rId3">
            <a:alphaModFix/>
          </a:blip>
          <a:srcRect l="10630" r="10630"/>
          <a:stretch/>
        </p:blipFill>
        <p:spPr>
          <a:xfrm>
            <a:off x="6492240" y="0"/>
            <a:ext cx="569671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l="3911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57650"/>
            <a:ext cx="110490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¿Qué es Ajoolnaj?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04850" y="1371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09625" y="1371600"/>
            <a:ext cx="10810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Problema que resuelve: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albergue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gestiona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mano ingresos y egresos (papel, sin control de camas ni alertas de permanencia).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04850" y="2124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09625" y="2124075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Objetivo general: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Digitalizar y centralizar toda la operación en una plataforma web segura y auditable.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04850" y="25717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9625" y="2571750"/>
            <a:ext cx="10810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Alcance funcional: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Admisión, expedientes, estancias, camas, permanencia (alertas 3→6 meses), seguimiento clínico y egresos.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04850" y="33242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09625" y="3324225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 de acceso: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7 roles (Admin, Dirección, Encargado, Trabajo Social, Enfermería, Psicología, Cocina).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7250" y="43434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Estado de Desarrollo: Backend Fases 1-7 Terminadas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09625" y="5257800"/>
            <a:ext cx="428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Fase 1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1238247" y="4871950"/>
            <a:ext cx="9926400" cy="573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375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43437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19312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9625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05500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953750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91687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67562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443850" y="5257800"/>
            <a:ext cx="1890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nventario/Móvil (Pendiente Fase 8 y 9)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524825" y="5210150"/>
            <a:ext cx="1194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Progreso Actual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 l="3911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71600"/>
            <a:ext cx="5334000" cy="45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10525" y="1581150"/>
            <a:ext cx="18859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6050" y="20669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81975" y="20669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67900" y="20669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96050" y="33242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81975" y="33242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867900" y="33242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96050" y="45815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81975" y="45815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67900" y="4581525"/>
            <a:ext cx="154305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Stack y arquitectura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704850" y="1371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09625" y="137160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Laravel 12 · PHP 8.2 · PostgreSQL 12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04850" y="18192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09625" y="1819275"/>
            <a:ext cx="5095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Blade +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Alpine.js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+ CSS + Vite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704850" y="22669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09625" y="22669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Entorno: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Laravel Sail (Docker) · Auth con Laravel Breeze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04850" y="30194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09625" y="3019425"/>
            <a:ext cx="50958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r>
              <a:rPr lang="en-US" sz="1500" b="0" i="0" u="none" strike="noStrike" cap="none" dirty="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RBAC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propio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(roles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permisos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BD)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 Gates (PERMISOS) y Policies (EDICION)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nativos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Laravel.</a:t>
            </a:r>
            <a:endParaRPr dirty="0"/>
          </a:p>
        </p:txBody>
      </p:sp>
      <p:sp>
        <p:nvSpPr>
          <p:cNvPr id="151" name="Google Shape;151;p16"/>
          <p:cNvSpPr txBox="1"/>
          <p:nvPr/>
        </p:nvSpPr>
        <p:spPr>
          <a:xfrm>
            <a:off x="704850" y="4309779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809625" y="4218213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</a:t>
            </a:r>
            <a:r>
              <a:rPr lang="en-US" sz="1500" b="0" i="0" u="none" strike="noStrike" cap="none" dirty="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Modular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dominios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Cada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módulo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independiente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logrando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bajo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acoplamiento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791450" y="165020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6596538" y="24050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Acceso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282463" y="24050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Expedientes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968388" y="24050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Estancias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596538" y="36623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Clínico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282463" y="36623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968388" y="36623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Inventario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596538" y="49196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Bitácora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282463" y="49196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Catálogos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9968388" y="49196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endParaRPr/>
          </a:p>
        </p:txBody>
      </p:sp>
      <p:pic>
        <p:nvPicPr>
          <p:cNvPr id="163" name="Google Shape;163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753225" y="26717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86625" y="2671762"/>
            <a:ext cx="533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39150" y="26717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972550" y="2671762"/>
            <a:ext cx="533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139362" y="26717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672762" y="2671762"/>
            <a:ext cx="504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753225" y="39290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86625" y="3929062"/>
            <a:ext cx="533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39150" y="39290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972550" y="3929062"/>
            <a:ext cx="533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139362" y="39290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672762" y="3929062"/>
            <a:ext cx="504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753225" y="51863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286625" y="5186362"/>
            <a:ext cx="533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453437" y="51863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8986837" y="5186362"/>
            <a:ext cx="504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125075" y="51863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658475" y="5186362"/>
            <a:ext cx="533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7"/>
          <p:cNvPicPr preferRelativeResize="0"/>
          <p:nvPr/>
        </p:nvPicPr>
        <p:blipFill rotWithShape="1">
          <a:blip r:embed="rId3">
            <a:alphaModFix/>
          </a:blip>
          <a:srcRect l="3911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62100"/>
            <a:ext cx="3492400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562100"/>
            <a:ext cx="3492549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562100"/>
            <a:ext cx="3492400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Nuestras reglas de Clean Code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57450"/>
            <a:ext cx="2901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866775" y="2838450"/>
            <a:ext cx="304694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Nombres descriptivos en lenguaje del dominio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866775" y="3438525"/>
            <a:ext cx="2901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qué: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código debe leerse como el negocio del albergue.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66775" y="3990975"/>
            <a:ext cx="2901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Evita: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Ambigüedad y traducción mental.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866775" y="4314825"/>
            <a:ext cx="29018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RegistrarIngresoService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PersonaUsuaria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96" name="Google Shape;19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4925" y="2457450"/>
            <a:ext cx="2901999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4644925" y="2838450"/>
            <a:ext cx="30470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Lógica en Servicios, no en Controladores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4644925" y="3438525"/>
            <a:ext cx="29019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</a:t>
            </a:r>
            <a:r>
              <a:rPr lang="en-US" sz="1200" b="0" i="0" u="none" strike="noStrike" cap="none" dirty="0" err="1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qué</a:t>
            </a:r>
            <a:r>
              <a:rPr lang="en-US" sz="1200" b="0" i="0" u="none" strike="noStrike" cap="none" dirty="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Controladores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delgados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reglas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testeables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99" name="Google Shape;199;p17"/>
          <p:cNvSpPr txBox="1"/>
          <p:nvPr/>
        </p:nvSpPr>
        <p:spPr>
          <a:xfrm>
            <a:off x="4644925" y="3990975"/>
            <a:ext cx="29019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Evita: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Controladores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Dios" o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código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duplicado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0" name="Google Shape;200;p17"/>
          <p:cNvSpPr txBox="1"/>
          <p:nvPr/>
        </p:nvSpPr>
        <p:spPr>
          <a:xfrm>
            <a:off x="4644925" y="4543425"/>
            <a:ext cx="29019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</a:t>
            </a:r>
            <a:r>
              <a:rPr lang="en-US" sz="1200" b="0" i="0" u="none" strike="noStrike" cap="none" dirty="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servicio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orquesta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estancia y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asignar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cama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; el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controlador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solo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delega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01" name="Google Shape;20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225" y="2457450"/>
            <a:ext cx="2901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8423225" y="2838450"/>
            <a:ext cx="304694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Cero "Magic Numbers": constantes con nombre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8423225" y="3438525"/>
            <a:ext cx="2901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qué: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valor de negocio se define en un solo lugar.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8423225" y="3990975"/>
            <a:ext cx="2901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Evita: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Valores inconsistentes esparcidos.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8423225" y="4543425"/>
            <a:ext cx="29018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Estancia::MESES_PERIODO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206" name="Google Shape;206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19335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44925" y="193357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23225" y="1933575"/>
            <a:ext cx="2952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8"/>
          <p:cNvPicPr preferRelativeResize="0"/>
          <p:nvPr/>
        </p:nvPicPr>
        <p:blipFill rotWithShape="1">
          <a:blip r:embed="rId3">
            <a:alphaModFix/>
          </a:blip>
          <a:srcRect l="3911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Nuestras reglas de Clean Code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571500" y="1371600"/>
            <a:ext cx="476059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REGLA 4 — Validación y autorización fuera del controlador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571500" y="1905000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qué: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Separar "qué datos son válidos y quién puede" de "qué hace la acción".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571500" y="2657475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Evita: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Reglas de negocio dispersas y fallas de seguridad.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571500" y="3409950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StoreDiagnosticoRequest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define rules() y authorize().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571500" y="4257675"/>
            <a:ext cx="47605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REGLA 5 — Comentarios del "por qué" y tipos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571500" y="4572000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qué: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código dice el "qué"; el comentario aporta intención.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571500" y="5324475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Evita: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Comentarios obvios que se vuelven mentiras al actualizar el código.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571500" y="607695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726650" y="6124575"/>
            <a:ext cx="4295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Extra: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Funciones cortas de responsabilidad única.</a:t>
            </a:r>
            <a:endParaRPr/>
          </a:p>
        </p:txBody>
      </p:sp>
      <p:pic>
        <p:nvPicPr>
          <p:cNvPr id="225" name="Google Shape;22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1401" y="1790775"/>
            <a:ext cx="5849100" cy="4333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9"/>
          <p:cNvPicPr preferRelativeResize="0"/>
          <p:nvPr/>
        </p:nvPicPr>
        <p:blipFill rotWithShape="1">
          <a:blip r:embed="rId3">
            <a:alphaModFix/>
          </a:blip>
          <a:srcRect l="3911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70300"/>
            <a:ext cx="5334000" cy="233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SRP — Principio de Responsabilidad Única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704850" y="1371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809625" y="137160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 qué consiste: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Cada clase debe tener una sola razón para cambiar (una sola responsabilidad).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704850" y="2124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09625" y="212407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Dónde lo aplicamos: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 los Servicios de dominio. Cada servicio hace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 sola cosa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704850" y="2876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809625" y="28765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Qué evita: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Clases enormes que hacen de todo y se rompen al tocarlas.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704850" y="36290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809625" y="3629025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Beneficio: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Podemos cambiar cómo se genera el folio sin tocar la asignación de camas, facilitando las pruebas unitarias.</a:t>
            </a:r>
            <a:endParaRPr/>
          </a:p>
        </p:txBody>
      </p:sp>
      <p:pic>
        <p:nvPicPr>
          <p:cNvPr id="242" name="Google Shape;242;p19" title="Diagrama de flujo-2026-07-11-0043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1425" y="2633650"/>
            <a:ext cx="5044142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0"/>
          <p:cNvPicPr preferRelativeResize="0"/>
          <p:nvPr/>
        </p:nvPicPr>
        <p:blipFill rotWithShape="1">
          <a:blip r:embed="rId3">
            <a:alphaModFix/>
          </a:blip>
          <a:srcRect l="3911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1200" y="5219700"/>
            <a:ext cx="8791574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DIP — Inversión de Dependencias</a:t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704850" y="1371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809625" y="1371600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 qué consiste: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Las clases dependen de abstracciones o se les inyectan sus dependencias, no las instancian directamente.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704850" y="2428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809625" y="2428875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Dónde lo aplicamos: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Los servicios reciben sus colaboradores por el constructor gracias al contenedor de dependencias de Laravel.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704850" y="3486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809625" y="34861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Qué evita: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Acoplamiento rígido (evita usar new AsignacionCamaService() dentro de otro servicio).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704850" y="42386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809625" y="42386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Beneficio: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Permite inyectar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mocks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fácilmente durante las pruebas automáticas.</a:t>
            </a:r>
            <a:endParaRPr/>
          </a:p>
        </p:txBody>
      </p:sp>
      <p:pic>
        <p:nvPicPr>
          <p:cNvPr id="259" name="Google Shape;259;p20" title="Diagrama de flujo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7288" y="5295900"/>
            <a:ext cx="866986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1"/>
          <p:cNvPicPr preferRelativeResize="0"/>
          <p:nvPr/>
        </p:nvPicPr>
        <p:blipFill rotWithShape="1">
          <a:blip r:embed="rId3">
            <a:alphaModFix/>
          </a:blip>
          <a:srcRect l="3911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Nuestra Definition of Done</a:t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571500" y="1371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 funcionalidad está "terminada" únicamente cuando: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1114425" y="191452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Cumple los requisitos funcionales.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6781800" y="191452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Sigue nuestras 5 reglas de Clean Code.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1114425" y="2331690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La lógica de negocio está en un Service.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781800" y="2331690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Tiene validación (FormRequest o Policy).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114425" y="274885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 Pasa pruebas automáticas sin errores.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6781800" y="274885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6. Fue probada manualmente en flujo real.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114425" y="3166020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7. No presenta errores/warnings conocidos.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6781800" y="3166020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8. Pull Request revisado y aprobado por otro.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114425" y="358318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9. Migraciones aplican limpio y seguras.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781800" y="358318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10. Documentación y README actualizados.</a:t>
            </a:r>
            <a:endParaRPr/>
          </a:p>
        </p:txBody>
      </p:sp>
      <p:pic>
        <p:nvPicPr>
          <p:cNvPr id="278" name="Google Shape;27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205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94205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922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35922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638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77638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9355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319355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1071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3610719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2"/>
          <p:cNvPicPr preferRelativeResize="0"/>
          <p:nvPr/>
        </p:nvPicPr>
        <p:blipFill rotWithShape="1">
          <a:blip r:embed="rId3">
            <a:alphaModFix/>
          </a:blip>
          <a:srcRect l="3911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81550"/>
            <a:ext cx="11049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Deuda técnica: riesgos y prevención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6" name="Google Shape;296;p22"/>
          <p:cNvGraphicFramePr/>
          <p:nvPr/>
        </p:nvGraphicFramePr>
        <p:xfrm>
          <a:off x="571500" y="1466850"/>
          <a:ext cx="11049000" cy="3076625"/>
        </p:xfrm>
        <a:graphic>
          <a:graphicData uri="http://schemas.openxmlformats.org/drawingml/2006/table">
            <a:tbl>
              <a:tblPr firstRow="1" bandRow="1">
                <a:noFill/>
                <a:tableStyleId>{18CD691B-E142-493F-B6EB-A31A974664A2}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Riesgo Identificado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Estrategia de Mitigación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Cobertura de pruebas limitada</a:t>
                      </a: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(SQLite difiere de PostgreSQL en migraciones).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Verificar contra BD PostgreSQL real y añadir pruebas estrictas a la lógica crítica de negocio.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Fases 8 y 9 sin implementar.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Planificarlas formalmente; prohibido "parchear" los módulos actuales para forzar su funcionamiento.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en controlador</a:t>
                      </a: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(por presión de tiempo).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Respetar tajantemente el patrón </a:t>
                      </a:r>
                      <a:r>
                        <a:rPr lang="en-US" sz="1350" b="0" i="1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Service + FormRequest</a:t>
                      </a: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(DoD).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Copiar-pegar entre módulos.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Reutilizar servicios y mantener el aislamiento de la arquitectura por dominios.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7" name="Google Shape;297;p22"/>
          <p:cNvSpPr txBox="1"/>
          <p:nvPr/>
        </p:nvSpPr>
        <p:spPr>
          <a:xfrm>
            <a:off x="800100" y="4924425"/>
            <a:ext cx="10629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Estrategia global: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Las fechas ajustadas causan baja calidad. Lo prevenimos con el DoD, PR obligatorios y registrando la deuda conscientemente en vez de ocultarla.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3"/>
          <p:cNvPicPr preferRelativeResize="0"/>
          <p:nvPr/>
        </p:nvPicPr>
        <p:blipFill rotWithShape="1">
          <a:blip r:embed="rId3">
            <a:alphaModFix/>
          </a:blip>
          <a:srcRect l="3911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71600"/>
            <a:ext cx="5334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371600"/>
            <a:ext cx="53340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Nuestro MVP: el ciclo de valor</a:t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571500" y="5214044"/>
            <a:ext cx="11049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Justificación: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MVP cubre el ciclo vital de una persona (Ingreso → Estancia →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Evaluaciones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→ Egreso), aportando el valor central al albergue de inmediato.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828675" y="1628775"/>
            <a:ext cx="50607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E07A5F"/>
                </a:solidFill>
                <a:latin typeface="Inter"/>
                <a:ea typeface="Inter"/>
                <a:cs typeface="Inter"/>
                <a:sym typeface="Inter"/>
              </a:rPr>
              <a:t>MVP (</a:t>
            </a:r>
            <a:r>
              <a:rPr lang="en-US" sz="1404" b="1">
                <a:solidFill>
                  <a:srgbClr val="E07A5F"/>
                </a:solidFill>
                <a:latin typeface="Inter"/>
                <a:ea typeface="Inter"/>
                <a:cs typeface="Inter"/>
                <a:sym typeface="Inter"/>
              </a:rPr>
              <a:t>Actualmente</a:t>
            </a:r>
            <a:r>
              <a:rPr lang="en-US" sz="1404" b="1" i="0" u="none" strike="noStrike" cap="none">
                <a:solidFill>
                  <a:srgbClr val="E07A5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828675" y="1943100"/>
            <a:ext cx="4819650" cy="9525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6543675" y="1628775"/>
            <a:ext cx="50607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4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Futuras iteraciones</a:t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6543675" y="1943100"/>
            <a:ext cx="48196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1647825"/>
            <a:ext cx="2190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3"/>
          <p:cNvSpPr txBox="1"/>
          <p:nvPr/>
        </p:nvSpPr>
        <p:spPr>
          <a:xfrm>
            <a:off x="962025" y="2095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066800" y="2095500"/>
            <a:ext cx="458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Login y control de acceso por rol.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962025" y="2543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1066800" y="2543175"/>
            <a:ext cx="4581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Alta de expediente y persona usuaria.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962025" y="2990850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947058" y="3027738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1051833" y="3027738"/>
            <a:ext cx="458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Seguimiento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evaluaciones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básico.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962025" y="345919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1066800" y="3459192"/>
            <a:ext cx="458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Egreso de la persona usuaria.</a:t>
            </a:r>
            <a:endParaRPr/>
          </a:p>
        </p:txBody>
      </p:sp>
      <p:pic>
        <p:nvPicPr>
          <p:cNvPr id="322" name="Google Shape;32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43675" y="1647825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3"/>
          <p:cNvSpPr txBox="1"/>
          <p:nvPr/>
        </p:nvSpPr>
        <p:spPr>
          <a:xfrm>
            <a:off x="6677025" y="2095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6781800" y="2095500"/>
            <a:ext cx="45815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Gestión de inventarios y operación interna (Fase 8).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6677025" y="28479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6781800" y="2847975"/>
            <a:ext cx="45815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Vista móvil de solo lectura para monitoreo (Fase 9).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8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4" descr="/mnt/data/a_high_detail_abstract_3d_diagram_ui_concept_art.png"/>
          <p:cNvPicPr preferRelativeResize="0"/>
          <p:nvPr/>
        </p:nvPicPr>
        <p:blipFill rotWithShape="1">
          <a:blip r:embed="rId3">
            <a:alphaModFix/>
          </a:blip>
          <a:srcRect l="5001" t="5004" r="21669" b="4995"/>
          <a:stretch/>
        </p:blipFill>
        <p:spPr>
          <a:xfrm>
            <a:off x="7132320" y="594360"/>
            <a:ext cx="4434842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/>
          <p:nvPr/>
        </p:nvSpPr>
        <p:spPr>
          <a:xfrm>
            <a:off x="777240" y="822960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777240" y="1234440"/>
            <a:ext cx="4846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sz="3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868680" y="2322576"/>
            <a:ext cx="82200" cy="82200"/>
          </a:xfrm>
          <a:prstGeom prst="ellipse">
            <a:avLst/>
          </a:prstGeom>
          <a:solidFill>
            <a:srgbClr val="E76F51"/>
          </a:solidFill>
          <a:ln w="12700" cap="flat" cmpd="sng">
            <a:solidFill>
              <a:srgbClr val="E76F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1051560" y="2240280"/>
            <a:ext cx="5440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Ajoolnaj resuelve un flujo institucional real del albergue.</a:t>
            </a:r>
            <a:endParaRPr sz="1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868680" y="2816352"/>
            <a:ext cx="82200" cy="82200"/>
          </a:xfrm>
          <a:prstGeom prst="ellipse">
            <a:avLst/>
          </a:prstGeom>
          <a:solidFill>
            <a:srgbClr val="E76F51"/>
          </a:solidFill>
          <a:ln w="12700" cap="flat" cmpd="sng">
            <a:solidFill>
              <a:srgbClr val="E76F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4"/>
          <p:cNvSpPr/>
          <p:nvPr/>
        </p:nvSpPr>
        <p:spPr>
          <a:xfrm>
            <a:off x="1051560" y="2734056"/>
            <a:ext cx="5440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La arquitectura por dominios reduce acoplamiento y facilita mantenimiento.</a:t>
            </a:r>
            <a:endParaRPr sz="1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868680" y="3310128"/>
            <a:ext cx="82200" cy="82200"/>
          </a:xfrm>
          <a:prstGeom prst="ellipse">
            <a:avLst/>
          </a:prstGeom>
          <a:solidFill>
            <a:srgbClr val="E76F51"/>
          </a:solidFill>
          <a:ln w="12700" cap="flat" cmpd="sng">
            <a:solidFill>
              <a:srgbClr val="E76F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1051560" y="3227832"/>
            <a:ext cx="5440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Clean Code, SOLID y DoD funcionan como reglas de entrega, no como teoría aislada.</a:t>
            </a:r>
            <a:endParaRPr sz="1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868680" y="3803904"/>
            <a:ext cx="82200" cy="82200"/>
          </a:xfrm>
          <a:prstGeom prst="ellipse">
            <a:avLst/>
          </a:prstGeom>
          <a:solidFill>
            <a:srgbClr val="E76F51"/>
          </a:solidFill>
          <a:ln w="12700" cap="flat" cmpd="sng">
            <a:solidFill>
              <a:srgbClr val="E76F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1051560" y="3721608"/>
            <a:ext cx="5440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El MVP entrega valor inmediato y deja una ruta clara para inventario y móvil.</a:t>
            </a:r>
            <a:endParaRPr sz="1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777240" y="544068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083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777240" y="6080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Equipo Ajoolnaj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</Words>
  <Application>Microsoft Macintosh PowerPoint</Application>
  <PresentationFormat>Panorámica</PresentationFormat>
  <Paragraphs>135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Inter SemiBold</vt:lpstr>
      <vt:lpstr>Calibri</vt:lpstr>
      <vt:lpstr>Play</vt:lpstr>
      <vt:lpstr>Arial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Armando Rafael</cp:lastModifiedBy>
  <cp:revision>1</cp:revision>
  <dcterms:modified xsi:type="dcterms:W3CDTF">2026-07-14T13:03:50Z</dcterms:modified>
</cp:coreProperties>
</file>