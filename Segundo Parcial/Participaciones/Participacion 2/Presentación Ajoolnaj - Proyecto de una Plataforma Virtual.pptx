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y="6858000" cx="12192000"/>
  <p:notesSz cx="6858000" cy="9144000"/>
  <p:embeddedFontLst>
    <p:embeddedFont>
      <p:font typeface="Play"/>
      <p:regular r:id="rId18"/>
      <p:bold r:id="rId19"/>
    </p:embeddedFont>
    <p:embeddedFont>
      <p:font typeface="Inter SemiBold"/>
      <p:regular r:id="rId20"/>
      <p:bold r:id="rId21"/>
      <p:italic r:id="rId22"/>
      <p:boldItalic r:id="rId23"/>
    </p:embeddedFont>
    <p:embeddedFont>
      <p:font typeface="Inter"/>
      <p:regular r:id="rId24"/>
      <p:bold r:id="rId25"/>
      <p:italic r:id="rId26"/>
      <p:boldItalic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8CD691B-E142-493F-B6EB-A31A974664A2}">
  <a:tblStyle styleId="{18CD691B-E142-493F-B6EB-A31A974664A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regular.fntdata"/><Relationship Id="rId22" Type="http://schemas.openxmlformats.org/officeDocument/2006/relationships/font" Target="fonts/InterSemiBold-italic.fntdata"/><Relationship Id="rId21" Type="http://schemas.openxmlformats.org/officeDocument/2006/relationships/font" Target="fonts/InterSemiBold-bold.fntdata"/><Relationship Id="rId24" Type="http://schemas.openxmlformats.org/officeDocument/2006/relationships/font" Target="fonts/Inter-regular.fntdata"/><Relationship Id="rId23" Type="http://schemas.openxmlformats.org/officeDocument/2006/relationships/font" Target="fonts/InterSemiBold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italic.fntdata"/><Relationship Id="rId25" Type="http://schemas.openxmlformats.org/officeDocument/2006/relationships/font" Target="fonts/Inter-bold.fntdata"/><Relationship Id="rId27" Type="http://schemas.openxmlformats.org/officeDocument/2006/relationships/font" Target="fonts/Inter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font" Target="fonts/Play-bold.fntdata"/><Relationship Id="rId18" Type="http://schemas.openxmlformats.org/officeDocument/2006/relationships/font" Target="fonts/Play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f4a7876d6e_5_10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3" name="Google Shape;83;g3f4a7876d6e_5_10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Abrimos explicando que Ajoolnaj es un sistema realista para apoyar la operación de un albergue.</a:t>
            </a:r>
            <a:br>
              <a:rPr lang="en-US"/>
            </a:br>
            <a:r>
              <a:rPr lang="en-US"/>
              <a:t>La exposición no se centra solo en que el sistema funcione; se centra en cómo garantizamos calidad, mantenibilidad y escalabilidad desde el código.</a:t>
            </a:r>
            <a:endParaRPr/>
          </a:p>
        </p:txBody>
      </p:sp>
      <p:sp>
        <p:nvSpPr>
          <p:cNvPr id="84" name="Google Shape;84;g3f4a7876d6e_5_10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f4a7876d6e_5_28:notes"/>
          <p:cNvSpPr/>
          <p:nvPr>
            <p:ph idx="2" type="sldImg"/>
          </p:nvPr>
        </p:nvSpPr>
        <p:spPr>
          <a:xfrm>
            <a:off x="685800" y="857250"/>
            <a:ext cx="5486400" cy="23145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g3f4a7876d6e_5_28:notes"/>
          <p:cNvSpPr txBox="1"/>
          <p:nvPr>
            <p:ph idx="1" type="body"/>
          </p:nvPr>
        </p:nvSpPr>
        <p:spPr>
          <a:xfrm>
            <a:off x="685800" y="3300413"/>
            <a:ext cx="5486400" cy="27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Cerramos recordando que el objetivo de calidad es que el sistema no solo funcione hoy, sino que pueda mantenerse mañana.</a:t>
            </a:r>
            <a:br>
              <a:rPr lang="en-US"/>
            </a:br>
            <a:r>
              <a:rPr lang="en-US"/>
              <a:t>Después de esta diapositiva abrimos preguntas.</a:t>
            </a:r>
            <a:endParaRPr/>
          </a:p>
        </p:txBody>
      </p:sp>
      <p:sp>
        <p:nvSpPr>
          <p:cNvPr id="330" name="Google Shape;330;g3f4a7876d6e_5_28:notes"/>
          <p:cNvSpPr txBox="1"/>
          <p:nvPr>
            <p:ph idx="12" type="sldNum"/>
          </p:nvPr>
        </p:nvSpPr>
        <p:spPr>
          <a:xfrm>
            <a:off x="3884613" y="6513910"/>
            <a:ext cx="2971800" cy="34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1" Type="http://schemas.openxmlformats.org/officeDocument/2006/relationships/image" Target="../media/image29.png"/><Relationship Id="rId10" Type="http://schemas.openxmlformats.org/officeDocument/2006/relationships/image" Target="../media/image10.png"/><Relationship Id="rId13" Type="http://schemas.openxmlformats.org/officeDocument/2006/relationships/image" Target="../media/image5.png"/><Relationship Id="rId1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7.png"/><Relationship Id="rId4" Type="http://schemas.openxmlformats.org/officeDocument/2006/relationships/image" Target="../media/image8.png"/><Relationship Id="rId9" Type="http://schemas.openxmlformats.org/officeDocument/2006/relationships/image" Target="../media/image12.png"/><Relationship Id="rId5" Type="http://schemas.openxmlformats.org/officeDocument/2006/relationships/image" Target="../media/image23.png"/><Relationship Id="rId6" Type="http://schemas.openxmlformats.org/officeDocument/2006/relationships/image" Target="../media/image1.png"/><Relationship Id="rId7" Type="http://schemas.openxmlformats.org/officeDocument/2006/relationships/image" Target="../media/image2.png"/><Relationship Id="rId8" Type="http://schemas.openxmlformats.org/officeDocument/2006/relationships/image" Target="../media/image14.png"/></Relationships>
</file>

<file path=ppt/slides/_rels/slide3.xml.rels><?xml version="1.0" encoding="UTF-8" standalone="yes"?><Relationships xmlns="http://schemas.openxmlformats.org/package/2006/relationships"><Relationship Id="rId20" Type="http://schemas.openxmlformats.org/officeDocument/2006/relationships/image" Target="../media/image27.png"/><Relationship Id="rId11" Type="http://schemas.openxmlformats.org/officeDocument/2006/relationships/image" Target="../media/image20.png"/><Relationship Id="rId22" Type="http://schemas.openxmlformats.org/officeDocument/2006/relationships/image" Target="../media/image33.png"/><Relationship Id="rId10" Type="http://schemas.openxmlformats.org/officeDocument/2006/relationships/image" Target="../media/image15.png"/><Relationship Id="rId21" Type="http://schemas.openxmlformats.org/officeDocument/2006/relationships/image" Target="../media/image30.png"/><Relationship Id="rId13" Type="http://schemas.openxmlformats.org/officeDocument/2006/relationships/image" Target="../media/image18.png"/><Relationship Id="rId24" Type="http://schemas.openxmlformats.org/officeDocument/2006/relationships/image" Target="../media/image32.png"/><Relationship Id="rId12" Type="http://schemas.openxmlformats.org/officeDocument/2006/relationships/image" Target="../media/image19.png"/><Relationship Id="rId23" Type="http://schemas.openxmlformats.org/officeDocument/2006/relationships/image" Target="../media/image45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7.png"/><Relationship Id="rId15" Type="http://schemas.openxmlformats.org/officeDocument/2006/relationships/image" Target="../media/image21.png"/><Relationship Id="rId14" Type="http://schemas.openxmlformats.org/officeDocument/2006/relationships/image" Target="../media/image22.png"/><Relationship Id="rId17" Type="http://schemas.openxmlformats.org/officeDocument/2006/relationships/image" Target="../media/image26.png"/><Relationship Id="rId16" Type="http://schemas.openxmlformats.org/officeDocument/2006/relationships/image" Target="../media/image28.png"/><Relationship Id="rId5" Type="http://schemas.openxmlformats.org/officeDocument/2006/relationships/image" Target="../media/image11.png"/><Relationship Id="rId19" Type="http://schemas.openxmlformats.org/officeDocument/2006/relationships/image" Target="../media/image25.png"/><Relationship Id="rId6" Type="http://schemas.openxmlformats.org/officeDocument/2006/relationships/image" Target="../media/image13.png"/><Relationship Id="rId18" Type="http://schemas.openxmlformats.org/officeDocument/2006/relationships/image" Target="../media/image24.png"/><Relationship Id="rId7" Type="http://schemas.openxmlformats.org/officeDocument/2006/relationships/image" Target="../media/image16.png"/><Relationship Id="rId8" Type="http://schemas.openxmlformats.org/officeDocument/2006/relationships/image" Target="../media/image9.pn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41.png"/><Relationship Id="rId10" Type="http://schemas.openxmlformats.org/officeDocument/2006/relationships/image" Target="../media/image38.png"/><Relationship Id="rId1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7.png"/><Relationship Id="rId4" Type="http://schemas.openxmlformats.org/officeDocument/2006/relationships/image" Target="../media/image31.png"/><Relationship Id="rId9" Type="http://schemas.openxmlformats.org/officeDocument/2006/relationships/image" Target="../media/image42.png"/><Relationship Id="rId5" Type="http://schemas.openxmlformats.org/officeDocument/2006/relationships/image" Target="../media/image36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Relationship Id="rId4" Type="http://schemas.openxmlformats.org/officeDocument/2006/relationships/image" Target="../media/image4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7.png"/><Relationship Id="rId4" Type="http://schemas.openxmlformats.org/officeDocument/2006/relationships/image" Target="../media/image44.png"/><Relationship Id="rId5" Type="http://schemas.openxmlformats.org/officeDocument/2006/relationships/image" Target="../media/image4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44.png"/><Relationship Id="rId5" Type="http://schemas.openxmlformats.org/officeDocument/2006/relationships/image" Target="../media/image4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4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5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48.png"/><Relationship Id="rId7" Type="http://schemas.openxmlformats.org/officeDocument/2006/relationships/image" Target="../media/image4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238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4"/>
          <p:cNvSpPr/>
          <p:nvPr/>
        </p:nvSpPr>
        <p:spPr>
          <a:xfrm>
            <a:off x="0" y="0"/>
            <a:ext cx="6355200" cy="6858000"/>
          </a:xfrm>
          <a:prstGeom prst="rect">
            <a:avLst/>
          </a:prstGeom>
          <a:solidFill>
            <a:srgbClr val="0F2238"/>
          </a:solidFill>
          <a:ln cap="flat" cmpd="sng" w="12700">
            <a:solidFill>
              <a:srgbClr val="0F223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4"/>
          <p:cNvSpPr/>
          <p:nvPr/>
        </p:nvSpPr>
        <p:spPr>
          <a:xfrm>
            <a:off x="713232" y="713232"/>
            <a:ext cx="42063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E76F51"/>
                </a:solidFill>
                <a:latin typeface="Arial"/>
                <a:ea typeface="Arial"/>
                <a:cs typeface="Arial"/>
                <a:sym typeface="Arial"/>
              </a:rPr>
              <a:t>PROYECTO </a:t>
            </a:r>
            <a:r>
              <a:rPr b="1" lang="en-US" sz="850">
                <a:solidFill>
                  <a:srgbClr val="E76F51"/>
                </a:solidFill>
              </a:rPr>
              <a:t>DE UNA PLATAFORMA VIRTUAL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4"/>
          <p:cNvSpPr/>
          <p:nvPr/>
        </p:nvSpPr>
        <p:spPr>
          <a:xfrm>
            <a:off x="685800" y="1234440"/>
            <a:ext cx="51207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500"/>
              <a:buFont typeface="Play"/>
              <a:buNone/>
            </a:pPr>
            <a:r>
              <a:rPr b="1" i="0" lang="en-US" sz="4500" u="none" cap="none" strike="noStrike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Ajoolnaj</a:t>
            </a:r>
            <a:endParaRPr b="0" i="0" sz="4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4"/>
          <p:cNvSpPr/>
          <p:nvPr/>
        </p:nvSpPr>
        <p:spPr>
          <a:xfrm>
            <a:off x="713232" y="2011680"/>
            <a:ext cx="49836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7B29D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F7B29D"/>
                </a:solidFill>
                <a:latin typeface="Arial"/>
                <a:ea typeface="Arial"/>
                <a:cs typeface="Arial"/>
                <a:sym typeface="Arial"/>
              </a:rPr>
              <a:t>Sistema de Gestión Institucional para un Albergue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4"/>
          <p:cNvSpPr/>
          <p:nvPr/>
        </p:nvSpPr>
        <p:spPr>
          <a:xfrm>
            <a:off x="713232" y="2880360"/>
            <a:ext cx="5120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Aplicación de Clean Code, principios SOLID y Definition of Done en un sistema modular con Laravel.</a:t>
            </a:r>
            <a:endParaRPr b="0" i="0" sz="17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4"/>
          <p:cNvSpPr/>
          <p:nvPr/>
        </p:nvSpPr>
        <p:spPr>
          <a:xfrm>
            <a:off x="713232" y="3977640"/>
            <a:ext cx="3337500" cy="310800"/>
          </a:xfrm>
          <a:prstGeom prst="roundRect">
            <a:avLst>
              <a:gd fmla="val 23529" name="adj"/>
            </a:avLst>
          </a:prstGeom>
          <a:solidFill>
            <a:srgbClr val="253E5D"/>
          </a:solidFill>
          <a:ln cap="flat" cmpd="sng" w="12700">
            <a:solidFill>
              <a:srgbClr val="253E5D">
                <a:alpha val="0"/>
              </a:srgbClr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4"/>
          <p:cNvSpPr/>
          <p:nvPr/>
        </p:nvSpPr>
        <p:spPr>
          <a:xfrm>
            <a:off x="822960" y="4046220"/>
            <a:ext cx="3118200" cy="16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Laravel · PostgreSQL · </a:t>
            </a:r>
            <a:r>
              <a:rPr b="1" lang="en-US" sz="850">
                <a:solidFill>
                  <a:srgbClr val="FFFFFF"/>
                </a:solidFill>
              </a:rPr>
              <a:t>CSS</a:t>
            </a:r>
            <a:r>
              <a:rPr b="1" i="0" lang="en-US" sz="8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· RBAC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" name="Google Shape;93;p14"/>
          <p:cNvSpPr/>
          <p:nvPr/>
        </p:nvSpPr>
        <p:spPr>
          <a:xfrm>
            <a:off x="713225" y="5090575"/>
            <a:ext cx="4572000" cy="116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Integrantes del equip</a:t>
            </a:r>
            <a:r>
              <a:rPr lang="en-US" sz="1100">
                <a:solidFill>
                  <a:srgbClr val="DCE6F2"/>
                </a:solidFill>
              </a:rPr>
              <a:t>o</a:t>
            </a:r>
            <a:r>
              <a:rPr b="0" i="0" lang="en-US" sz="110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 · Julio 2026</a:t>
            </a:r>
            <a:br>
              <a:rPr b="0" i="0" lang="en-US" sz="110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</a:br>
            <a:endParaRPr b="0" i="0" sz="1100" u="none" cap="none" strike="noStrike">
              <a:solidFill>
                <a:srgbClr val="DCE6F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DCE6F2"/>
                </a:solidFill>
              </a:rPr>
              <a:t>Manuel David Castro Blanco</a:t>
            </a:r>
            <a:endParaRPr sz="1100">
              <a:solidFill>
                <a:srgbClr val="DCE6F2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DCE6F2"/>
                </a:solidFill>
              </a:rPr>
              <a:t>Pablo Leonel Salomon Campos</a:t>
            </a:r>
            <a:endParaRPr sz="1100">
              <a:solidFill>
                <a:srgbClr val="DCE6F2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DCE6F2"/>
                </a:solidFill>
              </a:rPr>
              <a:t>Gerardo Alexander Díaz León</a:t>
            </a:r>
            <a:endParaRPr sz="1100">
              <a:solidFill>
                <a:srgbClr val="DCE6F2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DCE6F2"/>
                </a:solidFill>
              </a:rPr>
              <a:t>Bryant Maximiliano Dzul Perez</a:t>
            </a:r>
            <a:endParaRPr sz="1350">
              <a:solidFill>
                <a:srgbClr val="F4F4F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1100">
              <a:solidFill>
                <a:srgbClr val="DCE6F2"/>
              </a:solidFill>
            </a:endParaRPr>
          </a:p>
        </p:txBody>
      </p:sp>
      <p:pic>
        <p:nvPicPr>
          <p:cNvPr id="94" name="Google Shape;94;p14" title="Captura de pantalla 2026-07-10 190421.png"/>
          <p:cNvPicPr preferRelativeResize="0"/>
          <p:nvPr/>
        </p:nvPicPr>
        <p:blipFill rotWithShape="1">
          <a:blip r:embed="rId3">
            <a:alphaModFix/>
          </a:blip>
          <a:srcRect b="0" l="10630" r="10630" t="0"/>
          <a:stretch/>
        </p:blipFill>
        <p:spPr>
          <a:xfrm>
            <a:off x="6492240" y="0"/>
            <a:ext cx="5696712" cy="6857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Google Shape;99;p15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0" name="Google Shape;10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057650"/>
            <a:ext cx="11049000" cy="16002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¿Qué es Ajoolnaj?</a:t>
            </a: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704850" y="13716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809625" y="1371600"/>
            <a:ext cx="108108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Problema que resuelve: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El albergue </a:t>
            </a:r>
            <a:r>
              <a:rPr lang="en-US" sz="15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gestiona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 mano ingresos y egresos (papel, sin control de camas ni alertas de permanencia).</a:t>
            </a:r>
            <a:endParaRPr/>
          </a:p>
        </p:txBody>
      </p:sp>
      <p:sp>
        <p:nvSpPr>
          <p:cNvPr id="105" name="Google Shape;105;p15"/>
          <p:cNvSpPr txBox="1"/>
          <p:nvPr/>
        </p:nvSpPr>
        <p:spPr>
          <a:xfrm>
            <a:off x="704850" y="21240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6" name="Google Shape;106;p15"/>
          <p:cNvSpPr txBox="1"/>
          <p:nvPr/>
        </p:nvSpPr>
        <p:spPr>
          <a:xfrm>
            <a:off x="809625" y="2124075"/>
            <a:ext cx="10810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Objetivo general: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Digitalizar y centralizar toda la operación en una plataforma web segura y auditable.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704850" y="25717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809625" y="2571750"/>
            <a:ext cx="10810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Alcance funcional: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Admisión, expedientes, estancias, camas, permanencia (alertas 3→6 meses), seguimiento clínico y egresos.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704850" y="33242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809625" y="3324225"/>
            <a:ext cx="10810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Control de acceso: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7 roles (Admin, Dirección, Encargado, Trabajo Social, Enfermería, Psicología, Cocina).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857250" y="4343400"/>
            <a:ext cx="10477500" cy="2476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5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Estado de Desarrollo: Backend Fases 1-7 Terminadas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09625" y="5257800"/>
            <a:ext cx="4287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Fase 1</a:t>
            </a:r>
            <a:endParaRPr/>
          </a:p>
        </p:txBody>
      </p:sp>
      <p:sp>
        <p:nvSpPr>
          <p:cNvPr id="113" name="Google Shape;113;p15"/>
          <p:cNvSpPr/>
          <p:nvPr/>
        </p:nvSpPr>
        <p:spPr>
          <a:xfrm>
            <a:off x="1238247" y="4871950"/>
            <a:ext cx="9926400" cy="573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14" name="Google Shape;114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81375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5" name="Google Shape;115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643437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57250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19312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9625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9" name="Google Shape;119;p15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905500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0" name="Google Shape;120;p15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0953750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1" name="Google Shape;121;p15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9691687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2" name="Google Shape;122;p15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7167562" y="473392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5"/>
          <p:cNvSpPr txBox="1"/>
          <p:nvPr/>
        </p:nvSpPr>
        <p:spPr>
          <a:xfrm>
            <a:off x="9443850" y="5257800"/>
            <a:ext cx="18909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I</a:t>
            </a:r>
            <a:r>
              <a:rPr b="0" i="0" lang="en-US" sz="1050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nventario/Móvil (Pendiente Fase 8 y 9)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5524825" y="5210150"/>
            <a:ext cx="11946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0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Progreso Actual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6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0" name="Google Shape;130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1371600"/>
            <a:ext cx="5334000" cy="4533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1" name="Google Shape;131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10525" y="1581150"/>
            <a:ext cx="188595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2" name="Google Shape;132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96050" y="2066925"/>
            <a:ext cx="15430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3" name="Google Shape;133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181975" y="2066925"/>
            <a:ext cx="15430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4" name="Google Shape;134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867900" y="2066925"/>
            <a:ext cx="15430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5" name="Google Shape;135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96050" y="3324225"/>
            <a:ext cx="15430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6" name="Google Shape;136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181975" y="3324225"/>
            <a:ext cx="15430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7" name="Google Shape;137;p16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9867900" y="3324225"/>
            <a:ext cx="15430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8" name="Google Shape;138;p16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6496050" y="4581525"/>
            <a:ext cx="15430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39" name="Google Shape;139;p16"/>
          <p:cNvPicPr preferRelativeResize="0"/>
          <p:nvPr/>
        </p:nvPicPr>
        <p:blipFill rotWithShape="1">
          <a:blip r:embed="rId13">
            <a:alphaModFix/>
          </a:blip>
          <a:srcRect b="0" l="0" r="0" t="0"/>
          <a:stretch/>
        </p:blipFill>
        <p:spPr>
          <a:xfrm>
            <a:off x="8181975" y="4581525"/>
            <a:ext cx="1543050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40" name="Google Shape;140;p16"/>
          <p:cNvPicPr preferRelativeResize="0"/>
          <p:nvPr/>
        </p:nvPicPr>
        <p:blipFill rotWithShape="1">
          <a:blip r:embed="rId14">
            <a:alphaModFix/>
          </a:blip>
          <a:srcRect b="0" l="0" r="0" t="0"/>
          <a:stretch/>
        </p:blipFill>
        <p:spPr>
          <a:xfrm>
            <a:off x="9867900" y="4581525"/>
            <a:ext cx="1543050" cy="1114425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16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Stack y arquitectura</a:t>
            </a:r>
            <a:endParaRPr/>
          </a:p>
        </p:txBody>
      </p:sp>
      <p:sp>
        <p:nvSpPr>
          <p:cNvPr id="142" name="Google Shape;142;p16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 txBox="1"/>
          <p:nvPr/>
        </p:nvSpPr>
        <p:spPr>
          <a:xfrm>
            <a:off x="704850" y="13716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4" name="Google Shape;144;p16"/>
          <p:cNvSpPr txBox="1"/>
          <p:nvPr/>
        </p:nvSpPr>
        <p:spPr>
          <a:xfrm>
            <a:off x="809625" y="1371600"/>
            <a:ext cx="50958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Backend: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Laravel 12 · PHP 8.2 · PostgreSQL 12</a:t>
            </a:r>
            <a:endParaRPr/>
          </a:p>
        </p:txBody>
      </p:sp>
      <p:sp>
        <p:nvSpPr>
          <p:cNvPr id="145" name="Google Shape;145;p16"/>
          <p:cNvSpPr txBox="1"/>
          <p:nvPr/>
        </p:nvSpPr>
        <p:spPr>
          <a:xfrm>
            <a:off x="704850" y="18192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6" name="Google Shape;146;p16"/>
          <p:cNvSpPr txBox="1"/>
          <p:nvPr/>
        </p:nvSpPr>
        <p:spPr>
          <a:xfrm>
            <a:off x="809625" y="1819275"/>
            <a:ext cx="50958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Frontend: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Blade + Alpine.js + CSS + Vite</a:t>
            </a:r>
            <a:endParaRPr/>
          </a:p>
        </p:txBody>
      </p:sp>
      <p:sp>
        <p:nvSpPr>
          <p:cNvPr id="147" name="Google Shape;147;p16"/>
          <p:cNvSpPr txBox="1"/>
          <p:nvPr/>
        </p:nvSpPr>
        <p:spPr>
          <a:xfrm>
            <a:off x="704850" y="22669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48" name="Google Shape;148;p16"/>
          <p:cNvSpPr txBox="1"/>
          <p:nvPr/>
        </p:nvSpPr>
        <p:spPr>
          <a:xfrm>
            <a:off x="809625" y="2266950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Entorno: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Laravel Sail (Docker) · Auth con Laravel Breeze</a:t>
            </a:r>
            <a:endParaRPr/>
          </a:p>
        </p:txBody>
      </p:sp>
      <p:sp>
        <p:nvSpPr>
          <p:cNvPr id="149" name="Google Shape;149;p16"/>
          <p:cNvSpPr txBox="1"/>
          <p:nvPr/>
        </p:nvSpPr>
        <p:spPr>
          <a:xfrm>
            <a:off x="704850" y="30194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50" name="Google Shape;150;p16"/>
          <p:cNvSpPr txBox="1"/>
          <p:nvPr/>
        </p:nvSpPr>
        <p:spPr>
          <a:xfrm>
            <a:off x="809625" y="3019425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Seguridad: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RBAC propio (roles y permisos en BD) integrado con Gates y Policies nativos de Laravel.</a:t>
            </a:r>
            <a:endParaRPr/>
          </a:p>
        </p:txBody>
      </p:sp>
      <p:sp>
        <p:nvSpPr>
          <p:cNvPr id="151" name="Google Shape;151;p16"/>
          <p:cNvSpPr txBox="1"/>
          <p:nvPr/>
        </p:nvSpPr>
        <p:spPr>
          <a:xfrm>
            <a:off x="704850" y="37719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152" name="Google Shape;152;p16"/>
          <p:cNvSpPr txBox="1"/>
          <p:nvPr/>
        </p:nvSpPr>
        <p:spPr>
          <a:xfrm>
            <a:off x="809625" y="3771900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Arquitectura: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Modular por dominios. Cada módulo es independiente, logrando un bajo acoplamiento.</a:t>
            </a:r>
            <a:endParaRPr/>
          </a:p>
        </p:txBody>
      </p:sp>
      <p:pic>
        <p:nvPicPr>
          <p:cNvPr descr="image.png" id="153" name="Google Shape;153;p1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791450" y="1650200"/>
            <a:ext cx="219075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4" name="Google Shape;154;p16"/>
          <p:cNvSpPr txBox="1"/>
          <p:nvPr/>
        </p:nvSpPr>
        <p:spPr>
          <a:xfrm>
            <a:off x="6596538" y="24050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Acceso</a:t>
            </a:r>
            <a:endParaRPr/>
          </a:p>
        </p:txBody>
      </p:sp>
      <p:sp>
        <p:nvSpPr>
          <p:cNvPr id="155" name="Google Shape;155;p16"/>
          <p:cNvSpPr txBox="1"/>
          <p:nvPr/>
        </p:nvSpPr>
        <p:spPr>
          <a:xfrm>
            <a:off x="8282463" y="24050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Expedientes</a:t>
            </a:r>
            <a:endParaRPr/>
          </a:p>
        </p:txBody>
      </p:sp>
      <p:sp>
        <p:nvSpPr>
          <p:cNvPr id="156" name="Google Shape;156;p16"/>
          <p:cNvSpPr txBox="1"/>
          <p:nvPr/>
        </p:nvSpPr>
        <p:spPr>
          <a:xfrm>
            <a:off x="9968388" y="24050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Estancias</a:t>
            </a:r>
            <a:endParaRPr/>
          </a:p>
        </p:txBody>
      </p:sp>
      <p:sp>
        <p:nvSpPr>
          <p:cNvPr id="157" name="Google Shape;157;p16"/>
          <p:cNvSpPr txBox="1"/>
          <p:nvPr/>
        </p:nvSpPr>
        <p:spPr>
          <a:xfrm>
            <a:off x="6596538" y="36623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Clínico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8282463" y="36623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Egreso</a:t>
            </a:r>
            <a:endParaRPr/>
          </a:p>
        </p:txBody>
      </p:sp>
      <p:sp>
        <p:nvSpPr>
          <p:cNvPr id="159" name="Google Shape;159;p16"/>
          <p:cNvSpPr txBox="1"/>
          <p:nvPr/>
        </p:nvSpPr>
        <p:spPr>
          <a:xfrm>
            <a:off x="9968388" y="36623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Inventario</a:t>
            </a:r>
            <a:endParaRPr/>
          </a:p>
        </p:txBody>
      </p:sp>
      <p:sp>
        <p:nvSpPr>
          <p:cNvPr id="160" name="Google Shape;160;p16"/>
          <p:cNvSpPr txBox="1"/>
          <p:nvPr/>
        </p:nvSpPr>
        <p:spPr>
          <a:xfrm>
            <a:off x="6596538" y="49196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Bitácora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8282463" y="49196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Catálogos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9968388" y="4919662"/>
            <a:ext cx="1380172" cy="190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Sistema</a:t>
            </a:r>
            <a:endParaRPr/>
          </a:p>
        </p:txBody>
      </p:sp>
      <p:pic>
        <p:nvPicPr>
          <p:cNvPr descr="image.png" id="163" name="Google Shape;163;p1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6753225" y="26717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4" name="Google Shape;164;p1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7286625" y="2671762"/>
            <a:ext cx="533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5" name="Google Shape;165;p1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439150" y="26717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6" name="Google Shape;166;p1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972550" y="2671762"/>
            <a:ext cx="533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7" name="Google Shape;167;p1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0139362" y="26717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8" name="Google Shape;168;p1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0672762" y="2671762"/>
            <a:ext cx="50482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69" name="Google Shape;169;p1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6753225" y="39290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0" name="Google Shape;170;p1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7286625" y="3929062"/>
            <a:ext cx="533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1" name="Google Shape;171;p1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439150" y="39290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2" name="Google Shape;172;p1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8972550" y="3929062"/>
            <a:ext cx="533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3" name="Google Shape;173;p1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10139362" y="39290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4" name="Google Shape;174;p1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10672762" y="3929062"/>
            <a:ext cx="50482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5" name="Google Shape;175;p16"/>
          <p:cNvPicPr preferRelativeResize="0"/>
          <p:nvPr/>
        </p:nvPicPr>
        <p:blipFill rotWithShape="1">
          <a:blip r:embed="rId20">
            <a:alphaModFix/>
          </a:blip>
          <a:srcRect b="0" l="0" r="0" t="0"/>
          <a:stretch/>
        </p:blipFill>
        <p:spPr>
          <a:xfrm>
            <a:off x="6753225" y="51863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6" name="Google Shape;176;p1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7286625" y="5186362"/>
            <a:ext cx="53340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7" name="Google Shape;177;p1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8453437" y="51863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8" name="Google Shape;178;p16"/>
          <p:cNvPicPr preferRelativeResize="0"/>
          <p:nvPr/>
        </p:nvPicPr>
        <p:blipFill rotWithShape="1">
          <a:blip r:embed="rId23">
            <a:alphaModFix/>
          </a:blip>
          <a:srcRect b="0" l="0" r="0" t="0"/>
          <a:stretch/>
        </p:blipFill>
        <p:spPr>
          <a:xfrm>
            <a:off x="8986837" y="5186362"/>
            <a:ext cx="50482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10125075" y="5186362"/>
            <a:ext cx="48577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6"/>
          <p:cNvPicPr preferRelativeResize="0"/>
          <p:nvPr/>
        </p:nvPicPr>
        <p:blipFill rotWithShape="1">
          <a:blip r:embed="rId24">
            <a:alphaModFix/>
          </a:blip>
          <a:srcRect b="0" l="0" r="0" t="0"/>
          <a:stretch/>
        </p:blipFill>
        <p:spPr>
          <a:xfrm>
            <a:off x="10658475" y="5186362"/>
            <a:ext cx="533400" cy="17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5" name="Google Shape;185;p17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6" name="Google Shape;186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562100"/>
            <a:ext cx="3492400" cy="405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7" name="Google Shape;187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349650" y="1562100"/>
            <a:ext cx="3492549" cy="40576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8" name="Google Shape;188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27950" y="1562100"/>
            <a:ext cx="3492400" cy="405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7"/>
          <p:cNvSpPr txBox="1"/>
          <p:nvPr/>
        </p:nvSpPr>
        <p:spPr>
          <a:xfrm>
            <a:off x="571500" y="47625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Nuestras reglas de Clean Code</a:t>
            </a:r>
            <a:endParaRPr/>
          </a:p>
        </p:txBody>
      </p:sp>
      <p:sp>
        <p:nvSpPr>
          <p:cNvPr id="190" name="Google Shape;190;p17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191" name="Google Shape;191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66775" y="2457450"/>
            <a:ext cx="2901850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2" name="Google Shape;192;p17"/>
          <p:cNvSpPr txBox="1"/>
          <p:nvPr/>
        </p:nvSpPr>
        <p:spPr>
          <a:xfrm>
            <a:off x="866775" y="2838450"/>
            <a:ext cx="304694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Nombres descriptivos en lenguaje del dominio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866775" y="3438525"/>
            <a:ext cx="29018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Por qué: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El código debe leerse como el negocio del albergue.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866775" y="3990975"/>
            <a:ext cx="290185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Evita: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Ambigüedad y traducción mental.</a:t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866775" y="4314825"/>
            <a:ext cx="2901850" cy="476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Ejemplo: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RegistrarIngresoService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PersonaUsuaria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pic>
        <p:nvPicPr>
          <p:cNvPr descr="image.png" id="196" name="Google Shape;196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4644925" y="2457450"/>
            <a:ext cx="2901999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7"/>
          <p:cNvSpPr txBox="1"/>
          <p:nvPr/>
        </p:nvSpPr>
        <p:spPr>
          <a:xfrm>
            <a:off x="4644925" y="2838450"/>
            <a:ext cx="30470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Lógica en Servicios, no en Controladores</a:t>
            </a:r>
            <a:endParaRPr/>
          </a:p>
        </p:txBody>
      </p:sp>
      <p:sp>
        <p:nvSpPr>
          <p:cNvPr id="198" name="Google Shape;198;p17"/>
          <p:cNvSpPr txBox="1"/>
          <p:nvPr/>
        </p:nvSpPr>
        <p:spPr>
          <a:xfrm>
            <a:off x="4644925" y="3438525"/>
            <a:ext cx="29019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Por qué: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Controladores delgados, reglas testeables.</a:t>
            </a:r>
            <a:endParaRPr/>
          </a:p>
        </p:txBody>
      </p:sp>
      <p:sp>
        <p:nvSpPr>
          <p:cNvPr id="199" name="Google Shape;199;p17"/>
          <p:cNvSpPr txBox="1"/>
          <p:nvPr/>
        </p:nvSpPr>
        <p:spPr>
          <a:xfrm>
            <a:off x="4644925" y="3990975"/>
            <a:ext cx="2901999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Evita: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"Controladores Dios" y código duplicado.</a:t>
            </a:r>
            <a:endParaRPr/>
          </a:p>
        </p:txBody>
      </p:sp>
      <p:sp>
        <p:nvSpPr>
          <p:cNvPr id="200" name="Google Shape;200;p17"/>
          <p:cNvSpPr txBox="1"/>
          <p:nvPr/>
        </p:nvSpPr>
        <p:spPr>
          <a:xfrm>
            <a:off x="4644925" y="4543425"/>
            <a:ext cx="2901999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Ejemplo: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El servicio orquesta crear estancia y asignar cama; el controlador solo delega.</a:t>
            </a:r>
            <a:endParaRPr/>
          </a:p>
        </p:txBody>
      </p:sp>
      <p:pic>
        <p:nvPicPr>
          <p:cNvPr descr="image.png" id="201" name="Google Shape;201;p17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8423225" y="2457450"/>
            <a:ext cx="2901850" cy="2381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17"/>
          <p:cNvSpPr txBox="1"/>
          <p:nvPr/>
        </p:nvSpPr>
        <p:spPr>
          <a:xfrm>
            <a:off x="8423225" y="2838450"/>
            <a:ext cx="304694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Cero "Magic Numbers": constantes con nombre</a:t>
            </a:r>
            <a:endParaRPr/>
          </a:p>
        </p:txBody>
      </p:sp>
      <p:sp>
        <p:nvSpPr>
          <p:cNvPr id="203" name="Google Shape;203;p17"/>
          <p:cNvSpPr txBox="1"/>
          <p:nvPr/>
        </p:nvSpPr>
        <p:spPr>
          <a:xfrm>
            <a:off x="8423225" y="3438525"/>
            <a:ext cx="29018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Por qué: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Un valor de negocio se define en un solo lugar.</a:t>
            </a:r>
            <a:endParaRPr/>
          </a:p>
        </p:txBody>
      </p:sp>
      <p:sp>
        <p:nvSpPr>
          <p:cNvPr id="204" name="Google Shape;204;p17"/>
          <p:cNvSpPr txBox="1"/>
          <p:nvPr/>
        </p:nvSpPr>
        <p:spPr>
          <a:xfrm>
            <a:off x="8423225" y="3990975"/>
            <a:ext cx="290185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Evita: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Valores inconsistentes esparcidos.</a:t>
            </a:r>
            <a:endParaRPr/>
          </a:p>
        </p:txBody>
      </p:sp>
      <p:sp>
        <p:nvSpPr>
          <p:cNvPr id="205" name="Google Shape;205;p17"/>
          <p:cNvSpPr txBox="1"/>
          <p:nvPr/>
        </p:nvSpPr>
        <p:spPr>
          <a:xfrm>
            <a:off x="8423225" y="4543425"/>
            <a:ext cx="2901850" cy="238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Ejemplo: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2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Estancia::MESES_PERIODO</a:t>
            </a:r>
            <a:r>
              <a:rPr b="0" i="0" lang="en-US" sz="12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pic>
        <p:nvPicPr>
          <p:cNvPr descr="image.png" id="206" name="Google Shape;206;p17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866775" y="1933575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7" name="Google Shape;207;p17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4644925" y="1933575"/>
            <a:ext cx="3048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8" name="Google Shape;208;p17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423225" y="1933575"/>
            <a:ext cx="295275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18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18"/>
          <p:cNvSpPr txBox="1"/>
          <p:nvPr/>
        </p:nvSpPr>
        <p:spPr>
          <a:xfrm>
            <a:off x="571500" y="476250"/>
            <a:ext cx="116016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Nuestras reglas de Clean Code</a:t>
            </a:r>
            <a:endParaRPr/>
          </a:p>
        </p:txBody>
      </p:sp>
      <p:sp>
        <p:nvSpPr>
          <p:cNvPr id="215" name="Google Shape;215;p18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8"/>
          <p:cNvSpPr txBox="1"/>
          <p:nvPr/>
        </p:nvSpPr>
        <p:spPr>
          <a:xfrm>
            <a:off x="571500" y="1371600"/>
            <a:ext cx="4760595" cy="4381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REGLA 4 — Validación y autorización fuera del controlador</a:t>
            </a:r>
            <a:endParaRPr/>
          </a:p>
        </p:txBody>
      </p:sp>
      <p:sp>
        <p:nvSpPr>
          <p:cNvPr id="217" name="Google Shape;217;p18"/>
          <p:cNvSpPr txBox="1"/>
          <p:nvPr/>
        </p:nvSpPr>
        <p:spPr>
          <a:xfrm>
            <a:off x="571500" y="1905000"/>
            <a:ext cx="4533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Por qué: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Separar "qué datos son válidos y quién puede" de "qué hace la acción".</a:t>
            </a:r>
            <a:endParaRPr/>
          </a:p>
        </p:txBody>
      </p:sp>
      <p:sp>
        <p:nvSpPr>
          <p:cNvPr id="218" name="Google Shape;218;p18"/>
          <p:cNvSpPr txBox="1"/>
          <p:nvPr/>
        </p:nvSpPr>
        <p:spPr>
          <a:xfrm>
            <a:off x="571500" y="2657475"/>
            <a:ext cx="4533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Evita: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Reglas de negocio dispersas y fallas de seguridad.</a:t>
            </a:r>
            <a:endParaRPr/>
          </a:p>
        </p:txBody>
      </p:sp>
      <p:sp>
        <p:nvSpPr>
          <p:cNvPr id="219" name="Google Shape;219;p18"/>
          <p:cNvSpPr txBox="1"/>
          <p:nvPr/>
        </p:nvSpPr>
        <p:spPr>
          <a:xfrm>
            <a:off x="571500" y="3409950"/>
            <a:ext cx="4533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Cómo: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0" i="0" lang="en-US" sz="1500" u="none" cap="none" strike="noStrike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StoreDiagnosticoRequest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define rules() y authorize().</a:t>
            </a:r>
            <a:endParaRPr/>
          </a:p>
        </p:txBody>
      </p:sp>
      <p:sp>
        <p:nvSpPr>
          <p:cNvPr id="220" name="Google Shape;220;p18"/>
          <p:cNvSpPr txBox="1"/>
          <p:nvPr/>
        </p:nvSpPr>
        <p:spPr>
          <a:xfrm>
            <a:off x="571500" y="4257675"/>
            <a:ext cx="4760595" cy="219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REGLA 5 — Comentarios del "por qué" y tipos</a:t>
            </a:r>
            <a:endParaRPr/>
          </a:p>
        </p:txBody>
      </p:sp>
      <p:sp>
        <p:nvSpPr>
          <p:cNvPr id="221" name="Google Shape;221;p18"/>
          <p:cNvSpPr txBox="1"/>
          <p:nvPr/>
        </p:nvSpPr>
        <p:spPr>
          <a:xfrm>
            <a:off x="571500" y="4572000"/>
            <a:ext cx="4533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Por qué: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El código dice el "qué"; el comentario aporta intención.</a:t>
            </a:r>
            <a:endParaRPr/>
          </a:p>
        </p:txBody>
      </p:sp>
      <p:sp>
        <p:nvSpPr>
          <p:cNvPr id="222" name="Google Shape;222;p18"/>
          <p:cNvSpPr txBox="1"/>
          <p:nvPr/>
        </p:nvSpPr>
        <p:spPr>
          <a:xfrm>
            <a:off x="571500" y="5324475"/>
            <a:ext cx="4533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Evita: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Comentarios obvios que se vuelven mentiras al actualizar el código.</a:t>
            </a:r>
            <a:endParaRPr/>
          </a:p>
        </p:txBody>
      </p:sp>
      <p:sp>
        <p:nvSpPr>
          <p:cNvPr id="223" name="Google Shape;223;p18"/>
          <p:cNvSpPr txBox="1"/>
          <p:nvPr/>
        </p:nvSpPr>
        <p:spPr>
          <a:xfrm>
            <a:off x="571500" y="6076950"/>
            <a:ext cx="104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24" name="Google Shape;224;p18"/>
          <p:cNvSpPr txBox="1"/>
          <p:nvPr/>
        </p:nvSpPr>
        <p:spPr>
          <a:xfrm>
            <a:off x="726650" y="6124575"/>
            <a:ext cx="4295700" cy="60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Extra: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Funciones cortas de responsabilidad única.</a:t>
            </a:r>
            <a:endParaRPr/>
          </a:p>
        </p:txBody>
      </p:sp>
      <p:pic>
        <p:nvPicPr>
          <p:cNvPr id="225" name="Google Shape;225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71401" y="1790775"/>
            <a:ext cx="5849100" cy="433378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19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31" name="Google Shape;231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86500" y="2470300"/>
            <a:ext cx="5334000" cy="2336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19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SRP — Principio de Responsabilidad Única</a:t>
            </a:r>
            <a:endParaRPr/>
          </a:p>
        </p:txBody>
      </p:sp>
      <p:sp>
        <p:nvSpPr>
          <p:cNvPr id="233" name="Google Shape;233;p19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19"/>
          <p:cNvSpPr txBox="1"/>
          <p:nvPr/>
        </p:nvSpPr>
        <p:spPr>
          <a:xfrm>
            <a:off x="704850" y="13716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809625" y="1371600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 qué consiste: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Cada clase debe tener una sola razón para cambiar (una sola responsabilidad).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704850" y="21240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37" name="Google Shape;237;p19"/>
          <p:cNvSpPr txBox="1"/>
          <p:nvPr/>
        </p:nvSpPr>
        <p:spPr>
          <a:xfrm>
            <a:off x="809625" y="2124075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Dónde lo aplicamos: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En los Servicios de dominio. Cada servicio hace </a:t>
            </a:r>
            <a:r>
              <a:rPr b="0" i="1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una sola cosa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238" name="Google Shape;238;p19"/>
          <p:cNvSpPr txBox="1"/>
          <p:nvPr/>
        </p:nvSpPr>
        <p:spPr>
          <a:xfrm>
            <a:off x="704850" y="28765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809625" y="2876550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Qué evita: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Clases enormes que hacen de todo y se rompen al tocarlas.</a:t>
            </a:r>
            <a:endParaRPr/>
          </a:p>
        </p:txBody>
      </p:sp>
      <p:sp>
        <p:nvSpPr>
          <p:cNvPr id="240" name="Google Shape;240;p19"/>
          <p:cNvSpPr txBox="1"/>
          <p:nvPr/>
        </p:nvSpPr>
        <p:spPr>
          <a:xfrm>
            <a:off x="704850" y="36290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41" name="Google Shape;241;p19"/>
          <p:cNvSpPr txBox="1"/>
          <p:nvPr/>
        </p:nvSpPr>
        <p:spPr>
          <a:xfrm>
            <a:off x="809625" y="3629025"/>
            <a:ext cx="50958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Beneficio: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Podemos cambiar cómo se genera el folio sin tocar la asignación de camas, facilitando las pruebas unitarias.</a:t>
            </a:r>
            <a:endParaRPr/>
          </a:p>
        </p:txBody>
      </p:sp>
      <p:pic>
        <p:nvPicPr>
          <p:cNvPr id="242" name="Google Shape;242;p19" title="Diagrama de flujo-2026-07-11-004334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31425" y="2633650"/>
            <a:ext cx="5044142" cy="200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20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8" name="Google Shape;248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981200" y="5219700"/>
            <a:ext cx="8791574" cy="790575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20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DIP — Inversión de Dependencias</a:t>
            </a:r>
            <a:endParaRPr/>
          </a:p>
        </p:txBody>
      </p:sp>
      <p:sp>
        <p:nvSpPr>
          <p:cNvPr id="250" name="Google Shape;250;p20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0"/>
          <p:cNvSpPr txBox="1"/>
          <p:nvPr/>
        </p:nvSpPr>
        <p:spPr>
          <a:xfrm>
            <a:off x="704850" y="13716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52" name="Google Shape;252;p20"/>
          <p:cNvSpPr txBox="1"/>
          <p:nvPr/>
        </p:nvSpPr>
        <p:spPr>
          <a:xfrm>
            <a:off x="809625" y="1371600"/>
            <a:ext cx="50958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 qué consiste: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Las clases dependen de abstracciones o se les inyectan sus dependencias, no las instancian directamente.</a:t>
            </a:r>
            <a:endParaRPr/>
          </a:p>
        </p:txBody>
      </p:sp>
      <p:sp>
        <p:nvSpPr>
          <p:cNvPr id="253" name="Google Shape;253;p20"/>
          <p:cNvSpPr txBox="1"/>
          <p:nvPr/>
        </p:nvSpPr>
        <p:spPr>
          <a:xfrm>
            <a:off x="704850" y="24288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54" name="Google Shape;254;p20"/>
          <p:cNvSpPr txBox="1"/>
          <p:nvPr/>
        </p:nvSpPr>
        <p:spPr>
          <a:xfrm>
            <a:off x="809625" y="2428875"/>
            <a:ext cx="509587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Dónde lo aplicamos: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Los servicios reciben sus colaboradores por el constructor gracias al contenedor de dependencias de Laravel.</a:t>
            </a:r>
            <a:endParaRPr/>
          </a:p>
        </p:txBody>
      </p:sp>
      <p:sp>
        <p:nvSpPr>
          <p:cNvPr id="255" name="Google Shape;255;p20"/>
          <p:cNvSpPr txBox="1"/>
          <p:nvPr/>
        </p:nvSpPr>
        <p:spPr>
          <a:xfrm>
            <a:off x="704850" y="348615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56" name="Google Shape;256;p20"/>
          <p:cNvSpPr txBox="1"/>
          <p:nvPr/>
        </p:nvSpPr>
        <p:spPr>
          <a:xfrm>
            <a:off x="809625" y="3486150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Qué evita: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Acoplamiento rígido (evita usar new AsignacionCamaService() dentro de otro servicio).</a:t>
            </a:r>
            <a:endParaRPr/>
          </a:p>
        </p:txBody>
      </p:sp>
      <p:sp>
        <p:nvSpPr>
          <p:cNvPr id="257" name="Google Shape;257;p20"/>
          <p:cNvSpPr txBox="1"/>
          <p:nvPr/>
        </p:nvSpPr>
        <p:spPr>
          <a:xfrm>
            <a:off x="704850" y="423862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58" name="Google Shape;258;p20"/>
          <p:cNvSpPr txBox="1"/>
          <p:nvPr/>
        </p:nvSpPr>
        <p:spPr>
          <a:xfrm>
            <a:off x="809625" y="4238625"/>
            <a:ext cx="509587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Beneficio: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Permite inyectar </a:t>
            </a:r>
            <a:r>
              <a:rPr b="0" i="1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mocks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fácilmente durante las pruebas automáticas.</a:t>
            </a:r>
            <a:endParaRPr/>
          </a:p>
        </p:txBody>
      </p:sp>
      <p:pic>
        <p:nvPicPr>
          <p:cNvPr id="259" name="Google Shape;259;p20" title="Diagrama de flujo-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37288" y="5295900"/>
            <a:ext cx="8669865" cy="64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21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21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Nuestra Definition of Done</a:t>
            </a:r>
            <a:endParaRPr/>
          </a:p>
        </p:txBody>
      </p:sp>
      <p:sp>
        <p:nvSpPr>
          <p:cNvPr id="266" name="Google Shape;266;p21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21"/>
          <p:cNvSpPr txBox="1"/>
          <p:nvPr/>
        </p:nvSpPr>
        <p:spPr>
          <a:xfrm>
            <a:off x="571500" y="1371600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Una funcionalidad está "terminada" únicamente cuando:</a:t>
            </a:r>
            <a:endParaRPr/>
          </a:p>
        </p:txBody>
      </p:sp>
      <p:sp>
        <p:nvSpPr>
          <p:cNvPr id="268" name="Google Shape;268;p21"/>
          <p:cNvSpPr txBox="1"/>
          <p:nvPr/>
        </p:nvSpPr>
        <p:spPr>
          <a:xfrm>
            <a:off x="1114425" y="1914525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1. Cumple los requisitos funcionales.</a:t>
            </a:r>
            <a:endParaRPr/>
          </a:p>
        </p:txBody>
      </p:sp>
      <p:sp>
        <p:nvSpPr>
          <p:cNvPr id="269" name="Google Shape;269;p21"/>
          <p:cNvSpPr txBox="1"/>
          <p:nvPr/>
        </p:nvSpPr>
        <p:spPr>
          <a:xfrm>
            <a:off x="6781800" y="1914525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2. Sigue nuestras 5 reglas de Clean Code.</a:t>
            </a:r>
            <a:endParaRPr/>
          </a:p>
        </p:txBody>
      </p:sp>
      <p:sp>
        <p:nvSpPr>
          <p:cNvPr id="270" name="Google Shape;270;p21"/>
          <p:cNvSpPr txBox="1"/>
          <p:nvPr/>
        </p:nvSpPr>
        <p:spPr>
          <a:xfrm>
            <a:off x="1114425" y="2331690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3. La lógica de negocio está en un Service.</a:t>
            </a:r>
            <a:endParaRPr/>
          </a:p>
        </p:txBody>
      </p:sp>
      <p:sp>
        <p:nvSpPr>
          <p:cNvPr id="271" name="Google Shape;271;p21"/>
          <p:cNvSpPr txBox="1"/>
          <p:nvPr/>
        </p:nvSpPr>
        <p:spPr>
          <a:xfrm>
            <a:off x="6781800" y="2331690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4. Tiene validación (FormRequest o Policy).</a:t>
            </a:r>
            <a:endParaRPr/>
          </a:p>
        </p:txBody>
      </p:sp>
      <p:sp>
        <p:nvSpPr>
          <p:cNvPr id="272" name="Google Shape;272;p21"/>
          <p:cNvSpPr txBox="1"/>
          <p:nvPr/>
        </p:nvSpPr>
        <p:spPr>
          <a:xfrm>
            <a:off x="1114425" y="2748855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5. Pasa pruebas automáticas sin errores.</a:t>
            </a:r>
            <a:endParaRPr/>
          </a:p>
        </p:txBody>
      </p:sp>
      <p:sp>
        <p:nvSpPr>
          <p:cNvPr id="273" name="Google Shape;273;p21"/>
          <p:cNvSpPr txBox="1"/>
          <p:nvPr/>
        </p:nvSpPr>
        <p:spPr>
          <a:xfrm>
            <a:off x="6781800" y="2748855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6. Fue probada manualmente en flujo real.</a:t>
            </a:r>
            <a:endParaRPr/>
          </a:p>
        </p:txBody>
      </p:sp>
      <p:sp>
        <p:nvSpPr>
          <p:cNvPr id="274" name="Google Shape;274;p21"/>
          <p:cNvSpPr txBox="1"/>
          <p:nvPr/>
        </p:nvSpPr>
        <p:spPr>
          <a:xfrm>
            <a:off x="1114425" y="3166020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7. No presenta errores/warnings conocidos.</a:t>
            </a:r>
            <a:endParaRPr/>
          </a:p>
        </p:txBody>
      </p:sp>
      <p:sp>
        <p:nvSpPr>
          <p:cNvPr id="275" name="Google Shape;275;p21"/>
          <p:cNvSpPr txBox="1"/>
          <p:nvPr/>
        </p:nvSpPr>
        <p:spPr>
          <a:xfrm>
            <a:off x="6781800" y="3166020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8. Pull Request revisado y aprobado por otro.</a:t>
            </a:r>
            <a:endParaRPr/>
          </a:p>
        </p:txBody>
      </p:sp>
      <p:sp>
        <p:nvSpPr>
          <p:cNvPr id="276" name="Google Shape;276;p21"/>
          <p:cNvSpPr txBox="1"/>
          <p:nvPr/>
        </p:nvSpPr>
        <p:spPr>
          <a:xfrm>
            <a:off x="1114425" y="3583185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9. Migraciones aplican limpio y seguras.</a:t>
            </a:r>
            <a:endParaRPr/>
          </a:p>
        </p:txBody>
      </p:sp>
      <p:sp>
        <p:nvSpPr>
          <p:cNvPr id="277" name="Google Shape;277;p21"/>
          <p:cNvSpPr txBox="1"/>
          <p:nvPr/>
        </p:nvSpPr>
        <p:spPr>
          <a:xfrm>
            <a:off x="6781800" y="3583185"/>
            <a:ext cx="4838700" cy="27429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10. Documentación y README actualizados.</a:t>
            </a:r>
            <a:endParaRPr/>
          </a:p>
        </p:txBody>
      </p:sp>
      <p:pic>
        <p:nvPicPr>
          <p:cNvPr descr="image.png" id="278" name="Google Shape;278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942058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79" name="Google Shape;27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1942058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0" name="Google Shape;280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35922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1" name="Google Shape;28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235922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2" name="Google Shape;282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2776388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3" name="Google Shape;283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2776388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4" name="Google Shape;284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19355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5" name="Google Shape;285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3193553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6" name="Google Shape;286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3610719"/>
            <a:ext cx="209550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87" name="Google Shape;287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38875" y="3610719"/>
            <a:ext cx="209550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2" name="Google Shape;292;p22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93" name="Google Shape;293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4781550"/>
            <a:ext cx="11049000" cy="89535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22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Deuda técnica: riesgos y prevención</a:t>
            </a:r>
            <a:endParaRPr/>
          </a:p>
        </p:txBody>
      </p:sp>
      <p:sp>
        <p:nvSpPr>
          <p:cNvPr id="295" name="Google Shape;295;p22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96" name="Google Shape;296;p22"/>
          <p:cNvGraphicFramePr/>
          <p:nvPr/>
        </p:nvGraphicFramePr>
        <p:xfrm>
          <a:off x="571500" y="146685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{18CD691B-E142-493F-B6EB-A31A974664A2}</a:tableStyleId>
              </a:tblPr>
              <a:tblGrid>
                <a:gridCol w="4419600"/>
                <a:gridCol w="6629400"/>
              </a:tblGrid>
              <a:tr h="61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FFFFFF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Riesgo Identificado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FFFFFF"/>
                          </a:solidFill>
                          <a:latin typeface="Inter SemiBold"/>
                          <a:ea typeface="Inter SemiBold"/>
                          <a:cs typeface="Inter SemiBold"/>
                          <a:sym typeface="Inter SemiBold"/>
                        </a:rPr>
                        <a:t>Estrategia de Mitigación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E3A5F"/>
                    </a:solidFill>
                  </a:tcPr>
                </a:tc>
              </a:tr>
              <a:tr h="61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Cobertura de pruebas limitada</a:t>
                      </a: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(SQLite difiere de PostgreSQL en migraciones).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Verificar contra BD PostgreSQL real y añadir pruebas estrictas a la lógica crítica de negocio.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61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Fases 8 y 9 sin implementar.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Planificarlas formalmente; prohibido "parchear" los módulos actuales para forzar su funcionamiento.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4F5"/>
                    </a:solidFill>
                  </a:tcPr>
                </a:tc>
              </a:tr>
              <a:tr h="61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Lógica en controlador</a:t>
                      </a: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(por presión de tiempo).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Respetar tajantemente el patrón </a:t>
                      </a:r>
                      <a:r>
                        <a:rPr b="0" i="1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Service + FormRequest</a:t>
                      </a: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 (DoD).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6153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Copiar-pegar entre módulos.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4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i="0" lang="en-US" sz="1350" u="none" cap="none" strike="noStrike">
                          <a:solidFill>
                            <a:srgbClr val="334155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Reutilizar servicios y mantener el aislamiento de la arquitectura por dominios.</a:t>
                      </a:r>
                      <a:endParaRPr/>
                    </a:p>
                  </a:txBody>
                  <a:tcPr marT="25400" marB="254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4F4F5"/>
                    </a:solidFill>
                  </a:tcPr>
                </a:tc>
              </a:tr>
            </a:tbl>
          </a:graphicData>
        </a:graphic>
      </p:graphicFrame>
      <p:sp>
        <p:nvSpPr>
          <p:cNvPr id="297" name="Google Shape;297;p22"/>
          <p:cNvSpPr txBox="1"/>
          <p:nvPr/>
        </p:nvSpPr>
        <p:spPr>
          <a:xfrm>
            <a:off x="800100" y="4924425"/>
            <a:ext cx="10629900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Estrategia global: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Las fechas ajustadas causan baja calidad. Lo prevenimos con el DoD, PR obligatorios y registrando la deuda conscientemente en vez de ocultarla.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2" name="Google Shape;302;p23"/>
          <p:cNvPicPr preferRelativeResize="0"/>
          <p:nvPr/>
        </p:nvPicPr>
        <p:blipFill rotWithShape="1">
          <a:blip r:embed="rId3">
            <a:alphaModFix/>
          </a:blip>
          <a:srcRect b="0" l="3911" r="0" t="0"/>
          <a:stretch/>
        </p:blipFill>
        <p:spPr>
          <a:xfrm>
            <a:off x="26125" y="53375"/>
            <a:ext cx="12191998" cy="685800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3" name="Google Shape;303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71500" y="1371600"/>
            <a:ext cx="5334000" cy="3219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04" name="Google Shape;304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286500" y="1371600"/>
            <a:ext cx="5334000" cy="2486025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23"/>
          <p:cNvSpPr txBox="1"/>
          <p:nvPr/>
        </p:nvSpPr>
        <p:spPr>
          <a:xfrm>
            <a:off x="571500" y="476250"/>
            <a:ext cx="11601450" cy="5143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150" u="none" cap="none" strike="noStrike">
                <a:solidFill>
                  <a:srgbClr val="1E3A5F"/>
                </a:solidFill>
                <a:latin typeface="Inter"/>
                <a:ea typeface="Inter"/>
                <a:cs typeface="Inter"/>
                <a:sym typeface="Inter"/>
              </a:rPr>
              <a:t>Nuestro MVP: el ciclo de valor</a:t>
            </a:r>
            <a:endParaRPr/>
          </a:p>
        </p:txBody>
      </p:sp>
      <p:sp>
        <p:nvSpPr>
          <p:cNvPr id="306" name="Google Shape;306;p23"/>
          <p:cNvSpPr/>
          <p:nvPr/>
        </p:nvSpPr>
        <p:spPr>
          <a:xfrm>
            <a:off x="571500" y="1057275"/>
            <a:ext cx="11049000" cy="28575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23"/>
          <p:cNvSpPr txBox="1"/>
          <p:nvPr/>
        </p:nvSpPr>
        <p:spPr>
          <a:xfrm>
            <a:off x="571500" y="5214044"/>
            <a:ext cx="11049000" cy="5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50" u="none" cap="none" strike="noStrike">
                <a:solidFill>
                  <a:srgbClr val="1E3A5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Justificación: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El MVP cubre el ciclo vital de una persona (Ingreso → Estancia → </a:t>
            </a:r>
            <a:r>
              <a:rPr lang="en-US" sz="135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Evaluaciones</a:t>
            </a:r>
            <a:r>
              <a:rPr b="0" i="0" lang="en-US" sz="135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→ Egreso), aportando el valor central al albergue de inmediato.</a:t>
            </a:r>
            <a:endParaRPr/>
          </a:p>
        </p:txBody>
      </p:sp>
      <p:sp>
        <p:nvSpPr>
          <p:cNvPr id="308" name="Google Shape;308;p23"/>
          <p:cNvSpPr txBox="1"/>
          <p:nvPr/>
        </p:nvSpPr>
        <p:spPr>
          <a:xfrm>
            <a:off x="828675" y="1628775"/>
            <a:ext cx="50607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4" u="none" cap="none" strike="noStrike">
                <a:solidFill>
                  <a:srgbClr val="E07A5F"/>
                </a:solidFill>
                <a:latin typeface="Inter"/>
                <a:ea typeface="Inter"/>
                <a:cs typeface="Inter"/>
                <a:sym typeface="Inter"/>
              </a:rPr>
              <a:t>MVP (</a:t>
            </a:r>
            <a:r>
              <a:rPr b="1" lang="en-US" sz="1404">
                <a:solidFill>
                  <a:srgbClr val="E07A5F"/>
                </a:solidFill>
                <a:latin typeface="Inter"/>
                <a:ea typeface="Inter"/>
                <a:cs typeface="Inter"/>
                <a:sym typeface="Inter"/>
              </a:rPr>
              <a:t>Actualmente</a:t>
            </a:r>
            <a:r>
              <a:rPr b="1" i="0" lang="en-US" sz="1404" u="none" cap="none" strike="noStrike">
                <a:solidFill>
                  <a:srgbClr val="E07A5F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  <a:endParaRPr/>
          </a:p>
        </p:txBody>
      </p:sp>
      <p:sp>
        <p:nvSpPr>
          <p:cNvPr id="309" name="Google Shape;309;p23"/>
          <p:cNvSpPr/>
          <p:nvPr/>
        </p:nvSpPr>
        <p:spPr>
          <a:xfrm>
            <a:off x="828675" y="1943100"/>
            <a:ext cx="4819650" cy="9525"/>
          </a:xfrm>
          <a:prstGeom prst="rect">
            <a:avLst/>
          </a:prstGeom>
          <a:solidFill>
            <a:srgbClr val="F4F4F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23"/>
          <p:cNvSpPr txBox="1"/>
          <p:nvPr/>
        </p:nvSpPr>
        <p:spPr>
          <a:xfrm>
            <a:off x="6543675" y="1628775"/>
            <a:ext cx="5060700" cy="21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80975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4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b="1" i="0" lang="en-US" sz="1404" u="none" cap="none" strike="noStrike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Futuras iteraciones</a:t>
            </a:r>
            <a:endParaRPr/>
          </a:p>
        </p:txBody>
      </p:sp>
      <p:sp>
        <p:nvSpPr>
          <p:cNvPr id="311" name="Google Shape;311;p23"/>
          <p:cNvSpPr/>
          <p:nvPr/>
        </p:nvSpPr>
        <p:spPr>
          <a:xfrm>
            <a:off x="6543675" y="1943100"/>
            <a:ext cx="4819650" cy="952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312" name="Google Shape;312;p2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8675" y="1647825"/>
            <a:ext cx="2190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3"/>
          <p:cNvSpPr txBox="1"/>
          <p:nvPr/>
        </p:nvSpPr>
        <p:spPr>
          <a:xfrm>
            <a:off x="962025" y="20955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14" name="Google Shape;314;p23"/>
          <p:cNvSpPr txBox="1"/>
          <p:nvPr/>
        </p:nvSpPr>
        <p:spPr>
          <a:xfrm>
            <a:off x="1066800" y="2095500"/>
            <a:ext cx="4581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Login y control de acceso por rol.</a:t>
            </a:r>
            <a:endParaRPr/>
          </a:p>
        </p:txBody>
      </p:sp>
      <p:sp>
        <p:nvSpPr>
          <p:cNvPr id="315" name="Google Shape;315;p23"/>
          <p:cNvSpPr txBox="1"/>
          <p:nvPr/>
        </p:nvSpPr>
        <p:spPr>
          <a:xfrm>
            <a:off x="962025" y="25431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16" name="Google Shape;316;p23"/>
          <p:cNvSpPr txBox="1"/>
          <p:nvPr/>
        </p:nvSpPr>
        <p:spPr>
          <a:xfrm>
            <a:off x="1066800" y="2543175"/>
            <a:ext cx="458152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Alta de expediente y persona usuaria.</a:t>
            </a:r>
            <a:endParaRPr/>
          </a:p>
        </p:txBody>
      </p:sp>
      <p:sp>
        <p:nvSpPr>
          <p:cNvPr id="317" name="Google Shape;317;p23"/>
          <p:cNvSpPr txBox="1"/>
          <p:nvPr/>
        </p:nvSpPr>
        <p:spPr>
          <a:xfrm>
            <a:off x="962025" y="2990850"/>
            <a:ext cx="1047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"/>
          <p:cNvSpPr txBox="1"/>
          <p:nvPr/>
        </p:nvSpPr>
        <p:spPr>
          <a:xfrm>
            <a:off x="947058" y="3027738"/>
            <a:ext cx="104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19" name="Google Shape;319;p23"/>
          <p:cNvSpPr txBox="1"/>
          <p:nvPr/>
        </p:nvSpPr>
        <p:spPr>
          <a:xfrm>
            <a:off x="1051833" y="3027738"/>
            <a:ext cx="4581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Seguimiento </a:t>
            </a:r>
            <a:r>
              <a:rPr lang="en-US" sz="150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evaluaciones </a:t>
            </a: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básico.</a:t>
            </a:r>
            <a:endParaRPr/>
          </a:p>
        </p:txBody>
      </p:sp>
      <p:sp>
        <p:nvSpPr>
          <p:cNvPr id="320" name="Google Shape;320;p23"/>
          <p:cNvSpPr txBox="1"/>
          <p:nvPr/>
        </p:nvSpPr>
        <p:spPr>
          <a:xfrm>
            <a:off x="962025" y="3459192"/>
            <a:ext cx="104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21" name="Google Shape;321;p23"/>
          <p:cNvSpPr txBox="1"/>
          <p:nvPr/>
        </p:nvSpPr>
        <p:spPr>
          <a:xfrm>
            <a:off x="1066800" y="3459192"/>
            <a:ext cx="45816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Egreso de la persona usuaria.</a:t>
            </a:r>
            <a:endParaRPr/>
          </a:p>
        </p:txBody>
      </p:sp>
      <p:pic>
        <p:nvPicPr>
          <p:cNvPr descr="image.png" id="322" name="Google Shape;322;p2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543675" y="1647825"/>
            <a:ext cx="180975" cy="178296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3"/>
          <p:cNvSpPr txBox="1"/>
          <p:nvPr/>
        </p:nvSpPr>
        <p:spPr>
          <a:xfrm>
            <a:off x="6677025" y="2095500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24" name="Google Shape;324;p23"/>
          <p:cNvSpPr txBox="1"/>
          <p:nvPr/>
        </p:nvSpPr>
        <p:spPr>
          <a:xfrm>
            <a:off x="6781800" y="2095500"/>
            <a:ext cx="45815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Gestión de inventarios y operación interna (Fase 8).</a:t>
            </a:r>
            <a:endParaRPr/>
          </a:p>
        </p:txBody>
      </p:sp>
      <p:sp>
        <p:nvSpPr>
          <p:cNvPr id="325" name="Google Shape;325;p23"/>
          <p:cNvSpPr txBox="1"/>
          <p:nvPr/>
        </p:nvSpPr>
        <p:spPr>
          <a:xfrm>
            <a:off x="6677025" y="2847975"/>
            <a:ext cx="104775" cy="30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326" name="Google Shape;326;p23"/>
          <p:cNvSpPr txBox="1"/>
          <p:nvPr/>
        </p:nvSpPr>
        <p:spPr>
          <a:xfrm>
            <a:off x="6781800" y="2847975"/>
            <a:ext cx="4581525" cy="609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104775" spcFirstLastPara="1" rIns="0" wrap="square" tIns="0">
            <a:spAutoFit/>
          </a:bodyPr>
          <a:lstStyle/>
          <a:p>
            <a:pPr indent="0" lvl="0" marL="0" marR="0" rtl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Vista móvil de solo lectura para monitoreo (Fase 9).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2238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/mnt/data/a_high_detail_abstract_3d_diagram_ui_concept_art.png" id="332" name="Google Shape;332;p24"/>
          <p:cNvPicPr preferRelativeResize="0"/>
          <p:nvPr/>
        </p:nvPicPr>
        <p:blipFill rotWithShape="1">
          <a:blip r:embed="rId3">
            <a:alphaModFix/>
          </a:blip>
          <a:srcRect b="4995" l="5001" r="21669" t="5004"/>
          <a:stretch/>
        </p:blipFill>
        <p:spPr>
          <a:xfrm>
            <a:off x="7132320" y="594360"/>
            <a:ext cx="4434842" cy="306324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4"/>
          <p:cNvSpPr/>
          <p:nvPr/>
        </p:nvSpPr>
        <p:spPr>
          <a:xfrm>
            <a:off x="777240" y="822960"/>
            <a:ext cx="42063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6F51"/>
              </a:buClr>
              <a:buSzPts val="850"/>
              <a:buFont typeface="Arial"/>
              <a:buNone/>
            </a:pPr>
            <a:r>
              <a:rPr b="1" i="0" lang="en-US" sz="850" u="none" cap="none" strike="noStrike">
                <a:solidFill>
                  <a:srgbClr val="E76F51"/>
                </a:solidFill>
                <a:latin typeface="Arial"/>
                <a:ea typeface="Arial"/>
                <a:cs typeface="Arial"/>
                <a:sym typeface="Arial"/>
              </a:rPr>
              <a:t>CIERRE</a:t>
            </a:r>
            <a:endParaRPr b="0" i="0" sz="8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24"/>
          <p:cNvSpPr/>
          <p:nvPr/>
        </p:nvSpPr>
        <p:spPr>
          <a:xfrm>
            <a:off x="777240" y="1234440"/>
            <a:ext cx="48462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Conclusión</a:t>
            </a:r>
            <a:endParaRPr b="0" i="0" sz="3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24"/>
          <p:cNvSpPr/>
          <p:nvPr/>
        </p:nvSpPr>
        <p:spPr>
          <a:xfrm>
            <a:off x="868680" y="2322576"/>
            <a:ext cx="82200" cy="82200"/>
          </a:xfrm>
          <a:prstGeom prst="ellipse">
            <a:avLst/>
          </a:prstGeom>
          <a:solidFill>
            <a:srgbClr val="E76F51"/>
          </a:solidFill>
          <a:ln cap="flat" cmpd="sng" w="12700">
            <a:solidFill>
              <a:srgbClr val="E76F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6" name="Google Shape;336;p24"/>
          <p:cNvSpPr/>
          <p:nvPr/>
        </p:nvSpPr>
        <p:spPr>
          <a:xfrm>
            <a:off x="1051560" y="2240280"/>
            <a:ext cx="544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Ajoolnaj resuelve un flujo institucional real del albergue.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24"/>
          <p:cNvSpPr/>
          <p:nvPr/>
        </p:nvSpPr>
        <p:spPr>
          <a:xfrm>
            <a:off x="868680" y="2816352"/>
            <a:ext cx="82200" cy="82200"/>
          </a:xfrm>
          <a:prstGeom prst="ellipse">
            <a:avLst/>
          </a:prstGeom>
          <a:solidFill>
            <a:srgbClr val="E76F51"/>
          </a:solidFill>
          <a:ln cap="flat" cmpd="sng" w="12700">
            <a:solidFill>
              <a:srgbClr val="E76F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24"/>
          <p:cNvSpPr/>
          <p:nvPr/>
        </p:nvSpPr>
        <p:spPr>
          <a:xfrm>
            <a:off x="1051560" y="2734056"/>
            <a:ext cx="544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La arquitectura por dominios reduce acoplamiento y facilita mantenimiento.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9" name="Google Shape;339;p24"/>
          <p:cNvSpPr/>
          <p:nvPr/>
        </p:nvSpPr>
        <p:spPr>
          <a:xfrm>
            <a:off x="868680" y="3310128"/>
            <a:ext cx="82200" cy="82200"/>
          </a:xfrm>
          <a:prstGeom prst="ellipse">
            <a:avLst/>
          </a:prstGeom>
          <a:solidFill>
            <a:srgbClr val="E76F51"/>
          </a:solidFill>
          <a:ln cap="flat" cmpd="sng" w="12700">
            <a:solidFill>
              <a:srgbClr val="E76F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24"/>
          <p:cNvSpPr/>
          <p:nvPr/>
        </p:nvSpPr>
        <p:spPr>
          <a:xfrm>
            <a:off x="1051560" y="3227832"/>
            <a:ext cx="544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Clean Code, SOLID y DoD funcionan como reglas de entrega, no como teoría aislada.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24"/>
          <p:cNvSpPr/>
          <p:nvPr/>
        </p:nvSpPr>
        <p:spPr>
          <a:xfrm>
            <a:off x="868680" y="3803904"/>
            <a:ext cx="82200" cy="82200"/>
          </a:xfrm>
          <a:prstGeom prst="ellipse">
            <a:avLst/>
          </a:prstGeom>
          <a:solidFill>
            <a:srgbClr val="E76F51"/>
          </a:solidFill>
          <a:ln cap="flat" cmpd="sng" w="12700">
            <a:solidFill>
              <a:srgbClr val="E76F5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2" name="Google Shape;342;p24"/>
          <p:cNvSpPr/>
          <p:nvPr/>
        </p:nvSpPr>
        <p:spPr>
          <a:xfrm>
            <a:off x="1051560" y="3721608"/>
            <a:ext cx="5440800" cy="34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5" lIns="125" spcFirstLastPara="1" rIns="125" wrap="square" tIns="12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450"/>
              <a:buFont typeface="Arial"/>
              <a:buNone/>
            </a:pPr>
            <a:r>
              <a:rPr b="0" i="0" lang="en-US" sz="145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El MVP entrega valor inmediato y deja una ruta clara para inventario y móvil.</a:t>
            </a:r>
            <a:endParaRPr b="0" i="0" sz="14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24"/>
          <p:cNvSpPr/>
          <p:nvPr/>
        </p:nvSpPr>
        <p:spPr>
          <a:xfrm>
            <a:off x="777240" y="5440680"/>
            <a:ext cx="2743200" cy="41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2A083"/>
              </a:buClr>
              <a:buSzPts val="2400"/>
              <a:buFont typeface="Arial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24"/>
          <p:cNvSpPr/>
          <p:nvPr/>
        </p:nvSpPr>
        <p:spPr>
          <a:xfrm>
            <a:off x="777240" y="60807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DCE6F2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rgbClr val="DCE6F2"/>
                </a:solidFill>
                <a:latin typeface="Arial"/>
                <a:ea typeface="Arial"/>
                <a:cs typeface="Arial"/>
                <a:sym typeface="Arial"/>
              </a:rPr>
              <a:t>Equipo Ajoolnaj</a:t>
            </a:r>
            <a:endParaRPr b="0" i="0" sz="11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